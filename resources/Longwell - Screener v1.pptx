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3"/>
  </p:notesMasterIdLst>
  <p:sldIdLst>
    <p:sldId id="265" r:id="rId2"/>
    <p:sldId id="274" r:id="rId3"/>
    <p:sldId id="292" r:id="rId4"/>
    <p:sldId id="291" r:id="rId5"/>
    <p:sldId id="275" r:id="rId6"/>
    <p:sldId id="276" r:id="rId7"/>
    <p:sldId id="290"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73"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31AE3D1B-64C5-4A9E-8B3E-3D0A7E939F54}">
          <p14:sldIdLst>
            <p14:sldId id="265"/>
            <p14:sldId id="274"/>
            <p14:sldId id="292"/>
            <p14:sldId id="291"/>
            <p14:sldId id="275"/>
            <p14:sldId id="276"/>
            <p14:sldId id="290"/>
            <p14:sldId id="277"/>
            <p14:sldId id="278"/>
            <p14:sldId id="279"/>
            <p14:sldId id="280"/>
            <p14:sldId id="281"/>
            <p14:sldId id="282"/>
            <p14:sldId id="283"/>
            <p14:sldId id="284"/>
            <p14:sldId id="285"/>
            <p14:sldId id="286"/>
            <p14:sldId id="287"/>
            <p14:sldId id="288"/>
            <p14:sldId id="289"/>
            <p14:sldId id="2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B78E17-FFE6-CAE4-7725-9BF4A7B0464F}" name="Jeff" initials="J" userId="S::jeff@quiltyanalytics.com::c39e5863-af9c-4c6f-b17b-7ad43f5ad6c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diego torrejon" initial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EF1"/>
    <a:srgbClr val="8F1A95"/>
    <a:srgbClr val="FFFFFF"/>
    <a:srgbClr val="11151D"/>
    <a:srgbClr val="0000FF"/>
    <a:srgbClr val="12141D"/>
    <a:srgbClr val="4E46DD"/>
    <a:srgbClr val="4139C2"/>
    <a:srgbClr val="F0F0F0"/>
    <a:srgbClr val="C3AB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E4540C-611B-4633-9177-C56DEA8E4B9C}">
  <a:tblStyle styleId="{1CE4540C-611B-4633-9177-C56DEA8E4B9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23" autoAdjust="0"/>
    <p:restoredTop sz="97337" autoAdjust="0"/>
  </p:normalViewPr>
  <p:slideViewPr>
    <p:cSldViewPr snapToGrid="0">
      <p:cViewPr varScale="1">
        <p:scale>
          <a:sx n="144" d="100"/>
          <a:sy n="144" d="100"/>
        </p:scale>
        <p:origin x="1116" y="3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0C239C4-F34A-7085-0171-686DD2CE2935}"/>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806E2289-7B97-3504-DF04-BBFE7F5785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A2F65861-FF6C-7E49-2EF6-3DF0DBAE3A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1864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C343C4D-A47F-F76F-4A6C-87BF231433F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0EA95578-B27D-C0BC-CD6C-E859C85F139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A9D90F60-BB1F-6615-FC58-2318561A7F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3488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A8376DB7-412A-2238-99D5-486590AF3B5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F2CD4BEA-000F-EA1B-1417-F9A0B2A449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8D3A417E-C3A6-5B5E-B2F7-E871814115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588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DF6076C-7655-2DDD-176D-4126C2CFA82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B8671C0C-C966-FF57-D0A8-2A9D643127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024D8B35-0E78-74C4-13CE-454B670D88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46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69E4DDE-6ED9-DD83-3690-88D2799BF88A}"/>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B5356087-8B1B-B230-82B4-E89889DE91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7C5166EE-19A9-90A3-251B-55F0AE949B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4273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8F66691-7024-D86F-11AA-111756C9251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119931DE-A5CB-0455-ADBC-ED528A2E8C9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3A9F46D7-DF37-C30D-EB68-85201581EA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2999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D7198904-6C4C-E27E-5051-A5B77CFCC74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F001E983-69F4-F6D4-1919-88AD1A2247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016FC835-2F36-7BE9-3309-A75639229C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5243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B887C7A-EFCF-5DFE-A696-F477997080A9}"/>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A28D2A39-870C-F4FF-7574-066C398110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7078CC46-D676-C650-AB0A-C00E045CBA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3687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6205421-F6D3-1F0D-8F8A-04AA4799820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391B7DC-C5FF-56BF-4121-74EE7C4236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282D5A9E-977B-C5D9-1B7F-FAF2B90E97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5624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55CDE16-1FA4-6217-0C85-142B68083897}"/>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8E23A3DC-4BA3-450A-BFE7-5E335C85E2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23EA667B-B332-6057-36B7-3D19D104DB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992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6987DA6-5B3A-2F9B-DA00-552FEFBD1850}"/>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7F7EF701-2F7C-8A7B-B83C-DA8003FCF3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866F8674-A196-4165-E258-57A533A76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4740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C8B35DF0-11B8-9E54-20DE-024FB92E3BD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6FF921D1-7F30-DFB6-4AC5-BB29447485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88C96995-7563-BA9E-F90B-29C9842A3D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4510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E4FEC6B-646E-60F6-ABEF-F8C7ED183F95}"/>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E3E3CC72-8522-D802-A0EE-581EDF36BEA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78ED26D8-116B-AC79-E909-B9529D06BA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6541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927E42B-B6ED-96F2-1D43-9B8E03671548}"/>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2A5F5CCF-BB87-1CD1-A3F8-5C407E0F2F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ED99667D-34E0-594E-BAB6-DCBDD1B84A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8556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085612E-79CC-7B44-BDA8-1863447FB5A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5096BFF3-6F74-78E6-FA2D-97BFD1472D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29E958FA-D4BF-D147-96B1-0A8BE522FA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0539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9F46399-764E-9F66-7607-102E5B933A88}"/>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28E745C8-75C5-BE37-3D80-E38648E6A6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F756458A-B557-3A5E-62C5-AB6392B786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9845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8B150A22-CF85-239A-36C9-03613EB2C2EA}"/>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1AF16C81-4584-C7B4-3EFB-0BDEC5AF53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F671BBF6-7814-2956-44F7-2C517EFF94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4943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C24A9AB-B39E-F81E-F1C0-083AC3B09B2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CC658B15-4CA1-C9D8-60D5-D8CDC4B33B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94ABC7D6-6329-CAF0-D24C-44B222DE0C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8905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98B2813-8F3D-27DD-A545-72B3C85035A1}"/>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A1D3F127-683D-94D7-5649-5E282EE2FF2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966398D8-FE17-CCA7-F264-17C53F4886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180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D360312B-46F3-DCB7-15C9-2692734B54CB}"/>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54B7AE95-95F1-B383-3076-831717D5BB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15DA4749-4DF9-EC17-4134-0AA79DC756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8320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943B55AA-9323-FE22-E6E7-2D9025A2AECF}"/>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9524EB17-E11D-6B6D-CA5A-16B271E0EC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a:extLst>
              <a:ext uri="{FF2B5EF4-FFF2-40B4-BE49-F238E27FC236}">
                <a16:creationId xmlns:a16="http://schemas.microsoft.com/office/drawing/2014/main" id="{E86D4547-DEE0-449F-CA70-6DB0C155BA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0207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838200" y="66421"/>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3"/>
          <p:cNvSpPr txBox="1">
            <a:spLocks noGrp="1"/>
          </p:cNvSpPr>
          <p:nvPr>
            <p:ph type="dt" idx="10"/>
          </p:nvPr>
        </p:nvSpPr>
        <p:spPr>
          <a:xfrm>
            <a:off x="612648" y="645388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800" b="0" i="0" u="none" strike="noStrike" cap="none">
                <a:solidFill>
                  <a:schemeClr val="dk1"/>
                </a:solidFill>
                <a:latin typeface="Calibri"/>
                <a:ea typeface="Calibri"/>
                <a:cs typeface="Calibri"/>
                <a:sym typeface="Calibri"/>
              </a:defRPr>
            </a:lvl1pPr>
            <a:lvl2pPr marL="0" marR="0" lvl="1" indent="0" algn="r" rtl="0">
              <a:spcBef>
                <a:spcPts val="0"/>
              </a:spcBef>
              <a:buNone/>
              <a:defRPr sz="800" b="0" i="0" u="none" strike="noStrike" cap="none">
                <a:solidFill>
                  <a:schemeClr val="dk1"/>
                </a:solidFill>
                <a:latin typeface="Calibri"/>
                <a:ea typeface="Calibri"/>
                <a:cs typeface="Calibri"/>
                <a:sym typeface="Calibri"/>
              </a:defRPr>
            </a:lvl2pPr>
            <a:lvl3pPr marL="0" marR="0" lvl="2" indent="0" algn="r" rtl="0">
              <a:spcBef>
                <a:spcPts val="0"/>
              </a:spcBef>
              <a:buNone/>
              <a:defRPr sz="800" b="0" i="0" u="none" strike="noStrike" cap="none">
                <a:solidFill>
                  <a:schemeClr val="dk1"/>
                </a:solidFill>
                <a:latin typeface="Calibri"/>
                <a:ea typeface="Calibri"/>
                <a:cs typeface="Calibri"/>
                <a:sym typeface="Calibri"/>
              </a:defRPr>
            </a:lvl3pPr>
            <a:lvl4pPr marL="0" marR="0" lvl="3" indent="0" algn="r" rtl="0">
              <a:spcBef>
                <a:spcPts val="0"/>
              </a:spcBef>
              <a:buNone/>
              <a:defRPr sz="800" b="0" i="0" u="none" strike="noStrike" cap="none">
                <a:solidFill>
                  <a:schemeClr val="dk1"/>
                </a:solidFill>
                <a:latin typeface="Calibri"/>
                <a:ea typeface="Calibri"/>
                <a:cs typeface="Calibri"/>
                <a:sym typeface="Calibri"/>
              </a:defRPr>
            </a:lvl4pPr>
            <a:lvl5pPr marL="0" marR="0" lvl="4" indent="0" algn="r" rtl="0">
              <a:spcBef>
                <a:spcPts val="0"/>
              </a:spcBef>
              <a:buNone/>
              <a:defRPr sz="800" b="0" i="0" u="none" strike="noStrike" cap="none">
                <a:solidFill>
                  <a:schemeClr val="dk1"/>
                </a:solidFill>
                <a:latin typeface="Calibri"/>
                <a:ea typeface="Calibri"/>
                <a:cs typeface="Calibri"/>
                <a:sym typeface="Calibri"/>
              </a:defRPr>
            </a:lvl5pPr>
            <a:lvl6pPr marL="0" marR="0" lvl="5" indent="0" algn="r" rtl="0">
              <a:spcBef>
                <a:spcPts val="0"/>
              </a:spcBef>
              <a:buNone/>
              <a:defRPr sz="800" b="0" i="0" u="none" strike="noStrike" cap="none">
                <a:solidFill>
                  <a:schemeClr val="dk1"/>
                </a:solidFill>
                <a:latin typeface="Calibri"/>
                <a:ea typeface="Calibri"/>
                <a:cs typeface="Calibri"/>
                <a:sym typeface="Calibri"/>
              </a:defRPr>
            </a:lvl6pPr>
            <a:lvl7pPr marL="0" marR="0" lvl="6" indent="0" algn="r" rtl="0">
              <a:spcBef>
                <a:spcPts val="0"/>
              </a:spcBef>
              <a:buNone/>
              <a:defRPr sz="800" b="0" i="0" u="none" strike="noStrike" cap="none">
                <a:solidFill>
                  <a:schemeClr val="dk1"/>
                </a:solidFill>
                <a:latin typeface="Calibri"/>
                <a:ea typeface="Calibri"/>
                <a:cs typeface="Calibri"/>
                <a:sym typeface="Calibri"/>
              </a:defRPr>
            </a:lvl7pPr>
            <a:lvl8pPr marL="0" marR="0" lvl="7" indent="0" algn="r" rtl="0">
              <a:spcBef>
                <a:spcPts val="0"/>
              </a:spcBef>
              <a:buNone/>
              <a:defRPr sz="800" b="0" i="0" u="none" strike="noStrike" cap="none">
                <a:solidFill>
                  <a:schemeClr val="dk1"/>
                </a:solidFill>
                <a:latin typeface="Calibri"/>
                <a:ea typeface="Calibri"/>
                <a:cs typeface="Calibri"/>
                <a:sym typeface="Calibri"/>
              </a:defRPr>
            </a:lvl8pPr>
            <a:lvl9pPr marL="0" marR="0" lvl="8" indent="0" algn="r" rtl="0">
              <a:spcBef>
                <a:spcPts val="0"/>
              </a:spcBef>
              <a:buNone/>
              <a:defRPr sz="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4" name="Google Shape;24;p3"/>
          <p:cNvCxnSpPr/>
          <p:nvPr/>
        </p:nvCxnSpPr>
        <p:spPr>
          <a:xfrm>
            <a:off x="610551" y="6469215"/>
            <a:ext cx="10965753" cy="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9" name="Google Shape;59;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0" name="Google Shape;6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0"/>
          <p:cNvSpPr>
            <a:spLocks noGrp="1"/>
          </p:cNvSpPr>
          <p:nvPr>
            <p:ph type="pic" idx="2"/>
          </p:nvPr>
        </p:nvSpPr>
        <p:spPr>
          <a:xfrm>
            <a:off x="5183188" y="987425"/>
            <a:ext cx="6172200" cy="4873625"/>
          </a:xfrm>
          <a:prstGeom prst="rect">
            <a:avLst/>
          </a:prstGeom>
          <a:noFill/>
          <a:ln>
            <a:noFill/>
          </a:ln>
        </p:spPr>
      </p:sp>
      <p:sp>
        <p:nvSpPr>
          <p:cNvPr id="66" name="Google Shape;66;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4EF362F-1279-D5E2-7AD6-A72BCE431F2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50AF0F02-697F-1CAA-EC66-5FB603E0800C}"/>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a:t>
            </a:fld>
            <a:endParaRPr/>
          </a:p>
        </p:txBody>
      </p:sp>
      <p:sp>
        <p:nvSpPr>
          <p:cNvPr id="99" name="Google Shape;99;p14">
            <a:extLst>
              <a:ext uri="{FF2B5EF4-FFF2-40B4-BE49-F238E27FC236}">
                <a16:creationId xmlns:a16="http://schemas.microsoft.com/office/drawing/2014/main" id="{5404806F-E3BB-84AC-48EF-5C447A9764A3}"/>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
        <p:nvSpPr>
          <p:cNvPr id="4" name="Rectangle 3">
            <a:extLst>
              <a:ext uri="{FF2B5EF4-FFF2-40B4-BE49-F238E27FC236}">
                <a16:creationId xmlns:a16="http://schemas.microsoft.com/office/drawing/2014/main" id="{51913E23-E53D-680A-15C3-C2125963EF85}"/>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A1E28A-BA32-D890-F945-05DB2136B5C0}"/>
              </a:ext>
            </a:extLst>
          </p:cNvPr>
          <p:cNvSpPr txBox="1"/>
          <p:nvPr/>
        </p:nvSpPr>
        <p:spPr>
          <a:xfrm>
            <a:off x="649356" y="533943"/>
            <a:ext cx="5300870" cy="646331"/>
          </a:xfrm>
          <a:prstGeom prst="rect">
            <a:avLst/>
          </a:prstGeom>
          <a:noFill/>
        </p:spPr>
        <p:txBody>
          <a:bodyPr wrap="square" rtlCol="0">
            <a:spAutoFit/>
          </a:bodyPr>
          <a:lstStyle/>
          <a:p>
            <a:r>
              <a:rPr lang="en-US" sz="2000" b="1" dirty="0">
                <a:solidFill>
                  <a:schemeClr val="bg1"/>
                </a:solidFill>
              </a:rPr>
              <a:t>$120 Incentive for Focus Group</a:t>
            </a:r>
          </a:p>
          <a:p>
            <a:r>
              <a:rPr lang="en-US" sz="1600" b="1" i="1" dirty="0">
                <a:solidFill>
                  <a:schemeClr val="bg1"/>
                </a:solidFill>
              </a:rPr>
              <a:t>(If Qualified &amp; Selected)</a:t>
            </a:r>
          </a:p>
        </p:txBody>
      </p:sp>
      <p:sp>
        <p:nvSpPr>
          <p:cNvPr id="7" name="Rectangle: Rounded Corners 6">
            <a:extLst>
              <a:ext uri="{FF2B5EF4-FFF2-40B4-BE49-F238E27FC236}">
                <a16:creationId xmlns:a16="http://schemas.microsoft.com/office/drawing/2014/main" id="{06A8C5B1-378F-BA23-9BA2-0C7712EE156E}"/>
              </a:ext>
            </a:extLst>
          </p:cNvPr>
          <p:cNvSpPr/>
          <p:nvPr/>
        </p:nvSpPr>
        <p:spPr>
          <a:xfrm>
            <a:off x="649356" y="5111060"/>
            <a:ext cx="4891633"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 Now</a:t>
            </a:r>
          </a:p>
        </p:txBody>
      </p:sp>
      <p:sp>
        <p:nvSpPr>
          <p:cNvPr id="9" name="TextBox 8">
            <a:extLst>
              <a:ext uri="{FF2B5EF4-FFF2-40B4-BE49-F238E27FC236}">
                <a16:creationId xmlns:a16="http://schemas.microsoft.com/office/drawing/2014/main" id="{CD5DB4D9-864D-E89D-4BEF-846AF6FD89FC}"/>
              </a:ext>
            </a:extLst>
          </p:cNvPr>
          <p:cNvSpPr txBox="1"/>
          <p:nvPr/>
        </p:nvSpPr>
        <p:spPr>
          <a:xfrm>
            <a:off x="649357" y="1303307"/>
            <a:ext cx="4891633" cy="707886"/>
          </a:xfrm>
          <a:prstGeom prst="rect">
            <a:avLst/>
          </a:prstGeom>
          <a:noFill/>
        </p:spPr>
        <p:txBody>
          <a:bodyPr wrap="square" rtlCol="0">
            <a:spAutoFit/>
          </a:bodyPr>
          <a:lstStyle/>
          <a:p>
            <a:r>
              <a:rPr lang="en-US" sz="2000" b="1" dirty="0">
                <a:solidFill>
                  <a:srgbClr val="276EF1"/>
                </a:solidFill>
              </a:rPr>
              <a:t>Thanks for clicking – your perspective matters</a:t>
            </a:r>
          </a:p>
        </p:txBody>
      </p:sp>
      <p:sp>
        <p:nvSpPr>
          <p:cNvPr id="10" name="TextBox 9">
            <a:extLst>
              <a:ext uri="{FF2B5EF4-FFF2-40B4-BE49-F238E27FC236}">
                <a16:creationId xmlns:a16="http://schemas.microsoft.com/office/drawing/2014/main" id="{18890217-5B19-F753-54F6-783BA7DEACC2}"/>
              </a:ext>
            </a:extLst>
          </p:cNvPr>
          <p:cNvSpPr txBox="1"/>
          <p:nvPr/>
        </p:nvSpPr>
        <p:spPr>
          <a:xfrm>
            <a:off x="649356" y="2011193"/>
            <a:ext cx="4891633" cy="1169551"/>
          </a:xfrm>
          <a:prstGeom prst="rect">
            <a:avLst/>
          </a:prstGeom>
          <a:noFill/>
        </p:spPr>
        <p:txBody>
          <a:bodyPr wrap="square" rtlCol="0">
            <a:spAutoFit/>
          </a:bodyPr>
          <a:lstStyle/>
          <a:p>
            <a:r>
              <a:rPr lang="en-US" dirty="0"/>
              <a:t>Complete this short questionnaire to see if you qualify for a live focus group taking place on February 26</a:t>
            </a:r>
            <a:r>
              <a:rPr lang="en-US" baseline="30000" dirty="0"/>
              <a:t>th</a:t>
            </a:r>
            <a:r>
              <a:rPr lang="en-US" dirty="0"/>
              <a:t>. An incentive of $120 will be provided after the session to participants who qualify, are selected, and participate in the focus group.</a:t>
            </a:r>
          </a:p>
        </p:txBody>
      </p:sp>
      <p:sp>
        <p:nvSpPr>
          <p:cNvPr id="2" name="TextBox 1">
            <a:extLst>
              <a:ext uri="{FF2B5EF4-FFF2-40B4-BE49-F238E27FC236}">
                <a16:creationId xmlns:a16="http://schemas.microsoft.com/office/drawing/2014/main" id="{D64ABBB8-415A-2FD3-6B4D-D8AF70D402B4}"/>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3" name="TextBox 2">
            <a:extLst>
              <a:ext uri="{FF2B5EF4-FFF2-40B4-BE49-F238E27FC236}">
                <a16:creationId xmlns:a16="http://schemas.microsoft.com/office/drawing/2014/main" id="{607E0FB0-98C8-C03E-B197-84F91F9A2FB3}"/>
              </a:ext>
            </a:extLst>
          </p:cNvPr>
          <p:cNvSpPr txBox="1"/>
          <p:nvPr/>
        </p:nvSpPr>
        <p:spPr>
          <a:xfrm>
            <a:off x="621517" y="3227133"/>
            <a:ext cx="4891633" cy="1815882"/>
          </a:xfrm>
          <a:prstGeom prst="rect">
            <a:avLst/>
          </a:prstGeom>
          <a:noFill/>
        </p:spPr>
        <p:txBody>
          <a:bodyPr wrap="square" rtlCol="0">
            <a:spAutoFit/>
          </a:bodyPr>
          <a:lstStyle/>
          <a:p>
            <a:pPr marL="182880" indent="-182880">
              <a:buFont typeface="Arial" panose="020B0604020202020204" pitchFamily="34" charset="0"/>
              <a:buChar char="•"/>
            </a:pPr>
            <a:r>
              <a:rPr lang="en-US" b="1" dirty="0"/>
              <a:t>Quick and easy: </a:t>
            </a:r>
            <a:r>
              <a:rPr lang="en-US" dirty="0"/>
              <a:t>most people finish questionnaire in 5 minutes or less</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b="1" dirty="0"/>
              <a:t>$120 incentive:</a:t>
            </a:r>
            <a:r>
              <a:rPr lang="en-US" dirty="0"/>
              <a:t> selected participants who complete the 2-hour focus group receive $120</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b="1" dirty="0"/>
              <a:t>Confidential and secure:</a:t>
            </a:r>
            <a:r>
              <a:rPr lang="en-US" dirty="0"/>
              <a:t> your data stays confidential and secure</a:t>
            </a:r>
          </a:p>
        </p:txBody>
      </p:sp>
      <p:sp>
        <p:nvSpPr>
          <p:cNvPr id="6" name="TextBox 5">
            <a:extLst>
              <a:ext uri="{FF2B5EF4-FFF2-40B4-BE49-F238E27FC236}">
                <a16:creationId xmlns:a16="http://schemas.microsoft.com/office/drawing/2014/main" id="{1717C3FE-28BA-7F4F-F014-14920E749CB5}"/>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25F49BCC-327B-D3AE-A986-96320C0BF98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8999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D5735B4-8E0C-EC7F-3B51-6F54FB3E3F89}"/>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7A3E1F01-A82E-C69E-CEFC-78D9570B2A0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
        <p:nvSpPr>
          <p:cNvPr id="4" name="Rectangle 3">
            <a:extLst>
              <a:ext uri="{FF2B5EF4-FFF2-40B4-BE49-F238E27FC236}">
                <a16:creationId xmlns:a16="http://schemas.microsoft.com/office/drawing/2014/main" id="{D1FEAA2D-5742-CD99-C11E-829734090616}"/>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773AA8-B48A-1556-F4F1-3F45F630C388}"/>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9FB4A405-1C12-0119-A0F1-59C97F02AC4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50870C81-A180-DE61-BC73-178D1E55AB00}"/>
              </a:ext>
            </a:extLst>
          </p:cNvPr>
          <p:cNvSpPr txBox="1"/>
          <p:nvPr/>
        </p:nvSpPr>
        <p:spPr>
          <a:xfrm>
            <a:off x="649356" y="1932968"/>
            <a:ext cx="4891633" cy="523220"/>
          </a:xfrm>
          <a:prstGeom prst="rect">
            <a:avLst/>
          </a:prstGeom>
          <a:noFill/>
        </p:spPr>
        <p:txBody>
          <a:bodyPr wrap="square" rtlCol="0">
            <a:spAutoFit/>
          </a:bodyPr>
          <a:lstStyle/>
          <a:p>
            <a:r>
              <a:rPr lang="en-US" b="1" dirty="0"/>
              <a:t>1. Consent &amp; Verification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A0B7402F-A646-9F56-F8BE-E519603B5AEF}"/>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C465A783-2660-6367-215B-2ECC591B6BB8}"/>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A8DE0BEC-6779-2148-E0F1-D38B9D87674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A1FA559-DACF-282D-F5FE-29B49D80D50B}"/>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3BF251D7-A003-4666-58D3-8742CE4942C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D823432-FB66-1563-1DDF-C7E6E5042EEC}"/>
              </a:ext>
            </a:extLst>
          </p:cNvPr>
          <p:cNvSpPr txBox="1"/>
          <p:nvPr/>
        </p:nvSpPr>
        <p:spPr>
          <a:xfrm>
            <a:off x="2306684" y="1332204"/>
            <a:ext cx="1253344" cy="307777"/>
          </a:xfrm>
          <a:prstGeom prst="rect">
            <a:avLst/>
          </a:prstGeom>
          <a:noFill/>
        </p:spPr>
        <p:txBody>
          <a:bodyPr wrap="square" rtlCol="0">
            <a:spAutoFit/>
          </a:bodyPr>
          <a:lstStyle/>
          <a:p>
            <a:r>
              <a:rPr lang="en-US" dirty="0"/>
              <a:t>0% Complete</a:t>
            </a:r>
          </a:p>
        </p:txBody>
      </p:sp>
      <p:pic>
        <p:nvPicPr>
          <p:cNvPr id="17" name="Graphic 16" descr="Checkbox Checked outline">
            <a:extLst>
              <a:ext uri="{FF2B5EF4-FFF2-40B4-BE49-F238E27FC236}">
                <a16:creationId xmlns:a16="http://schemas.microsoft.com/office/drawing/2014/main" id="{E258A4D7-AD3F-97FD-67F8-738E3AFE71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041" y="2602792"/>
            <a:ext cx="340520" cy="340520"/>
          </a:xfrm>
          <a:prstGeom prst="rect">
            <a:avLst/>
          </a:prstGeom>
        </p:spPr>
      </p:pic>
      <p:sp>
        <p:nvSpPr>
          <p:cNvPr id="27" name="Rectangle: Rounded Corners 26">
            <a:extLst>
              <a:ext uri="{FF2B5EF4-FFF2-40B4-BE49-F238E27FC236}">
                <a16:creationId xmlns:a16="http://schemas.microsoft.com/office/drawing/2014/main" id="{F4F93E5B-4757-E2C0-CFB3-3CA2EED8C1BE}"/>
              </a:ext>
            </a:extLst>
          </p:cNvPr>
          <p:cNvSpPr/>
          <p:nvPr/>
        </p:nvSpPr>
        <p:spPr>
          <a:xfrm>
            <a:off x="812041" y="2603926"/>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C5B7055-703D-66DE-17DA-92179F015FB7}"/>
              </a:ext>
            </a:extLst>
          </p:cNvPr>
          <p:cNvSpPr txBox="1"/>
          <p:nvPr/>
        </p:nvSpPr>
        <p:spPr>
          <a:xfrm>
            <a:off x="723331" y="2275169"/>
            <a:ext cx="4817658" cy="2472472"/>
          </a:xfrm>
          <a:prstGeom prst="rect">
            <a:avLst/>
          </a:prstGeom>
          <a:noFill/>
        </p:spPr>
        <p:txBody>
          <a:bodyPr wrap="square">
            <a:spAutoFit/>
          </a:bodyPr>
          <a:lstStyle/>
          <a:p>
            <a:pPr lvl="3">
              <a:spcBef>
                <a:spcPts val="800"/>
              </a:spcBef>
            </a:pPr>
            <a:r>
              <a:rPr lang="en-US" sz="1200" b="1" dirty="0"/>
              <a:t>I confirm that I am 18 years of age or older</a:t>
            </a:r>
            <a:r>
              <a:rPr lang="en-US" sz="1200" b="1" dirty="0">
                <a:solidFill>
                  <a:srgbClr val="FF0000"/>
                </a:solidFill>
              </a:rPr>
              <a:t>*</a:t>
            </a:r>
          </a:p>
          <a:p>
            <a:pPr lvl="3">
              <a:spcBef>
                <a:spcPts val="800"/>
              </a:spcBef>
            </a:pPr>
            <a:endParaRPr lang="en-US" sz="1200" b="1" dirty="0"/>
          </a:p>
          <a:p>
            <a:pPr lvl="3">
              <a:spcBef>
                <a:spcPts val="800"/>
              </a:spcBef>
            </a:pPr>
            <a:endParaRPr lang="en-US" sz="1200" b="1" dirty="0"/>
          </a:p>
          <a:p>
            <a:pPr lvl="3">
              <a:spcBef>
                <a:spcPts val="800"/>
              </a:spcBef>
            </a:pPr>
            <a:r>
              <a:rPr lang="en-US" sz="1200" b="1" dirty="0"/>
              <a:t>I consent to my responses being collected, stored, and analyzed for research purposes</a:t>
            </a:r>
            <a:r>
              <a:rPr lang="en-US" sz="1200" b="1" dirty="0">
                <a:solidFill>
                  <a:srgbClr val="FF0000"/>
                </a:solidFill>
              </a:rPr>
              <a:t>*</a:t>
            </a:r>
            <a:endParaRPr lang="en-US" sz="1200" b="1" dirty="0"/>
          </a:p>
          <a:p>
            <a:pPr lvl="3">
              <a:spcBef>
                <a:spcPts val="800"/>
              </a:spcBef>
            </a:pPr>
            <a:endParaRPr lang="en-US" sz="1200" b="1" dirty="0"/>
          </a:p>
          <a:p>
            <a:pPr lvl="3">
              <a:spcBef>
                <a:spcPts val="800"/>
              </a:spcBef>
            </a:pPr>
            <a:endParaRPr lang="en-US" sz="1200" b="1" dirty="0"/>
          </a:p>
          <a:p>
            <a:pPr lvl="3">
              <a:spcBef>
                <a:spcPts val="800"/>
              </a:spcBef>
            </a:pPr>
            <a:r>
              <a:rPr lang="en-US" sz="1200" b="1" dirty="0"/>
              <a:t>I agree to be contacted for follow-up questions or clarifications</a:t>
            </a:r>
            <a:r>
              <a:rPr lang="en-US" sz="1200" b="1" dirty="0">
                <a:solidFill>
                  <a:srgbClr val="FF0000"/>
                </a:solidFill>
              </a:rPr>
              <a:t>*</a:t>
            </a:r>
            <a:endParaRPr lang="en-US" sz="1200" b="1" dirty="0"/>
          </a:p>
          <a:p>
            <a:pPr lvl="3">
              <a:spcBef>
                <a:spcPts val="800"/>
              </a:spcBef>
            </a:pPr>
            <a:r>
              <a:rPr lang="en-US" sz="1200" b="1" dirty="0"/>
              <a:t> </a:t>
            </a:r>
          </a:p>
        </p:txBody>
      </p:sp>
      <p:sp>
        <p:nvSpPr>
          <p:cNvPr id="30" name="Rectangle: Rounded Corners 29">
            <a:extLst>
              <a:ext uri="{FF2B5EF4-FFF2-40B4-BE49-F238E27FC236}">
                <a16:creationId xmlns:a16="http://schemas.microsoft.com/office/drawing/2014/main" id="{279D9AFA-7102-E959-5130-D2BF9539FE86}"/>
              </a:ext>
            </a:extLst>
          </p:cNvPr>
          <p:cNvSpPr/>
          <p:nvPr/>
        </p:nvSpPr>
        <p:spPr>
          <a:xfrm>
            <a:off x="812041" y="3673588"/>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47D0F8EE-758D-353E-1F5D-210A7ED4EEF5}"/>
              </a:ext>
            </a:extLst>
          </p:cNvPr>
          <p:cNvSpPr/>
          <p:nvPr/>
        </p:nvSpPr>
        <p:spPr>
          <a:xfrm>
            <a:off x="812041" y="4497344"/>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descr="Checkbox Checked outline">
            <a:extLst>
              <a:ext uri="{FF2B5EF4-FFF2-40B4-BE49-F238E27FC236}">
                <a16:creationId xmlns:a16="http://schemas.microsoft.com/office/drawing/2014/main" id="{B07C8D8F-A2AE-5D3C-4623-8D700C5D00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041" y="3653528"/>
            <a:ext cx="340520" cy="340520"/>
          </a:xfrm>
          <a:prstGeom prst="rect">
            <a:avLst/>
          </a:prstGeom>
        </p:spPr>
      </p:pic>
      <p:pic>
        <p:nvPicPr>
          <p:cNvPr id="34" name="Graphic 33" descr="Checkbox Checked outline">
            <a:extLst>
              <a:ext uri="{FF2B5EF4-FFF2-40B4-BE49-F238E27FC236}">
                <a16:creationId xmlns:a16="http://schemas.microsoft.com/office/drawing/2014/main" id="{1B58AA8E-714C-EA23-D804-1CBD2800FE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2041" y="4492647"/>
            <a:ext cx="340520" cy="340520"/>
          </a:xfrm>
          <a:prstGeom prst="rect">
            <a:avLst/>
          </a:prstGeom>
        </p:spPr>
      </p:pic>
      <p:sp>
        <p:nvSpPr>
          <p:cNvPr id="36" name="TextBox 35">
            <a:extLst>
              <a:ext uri="{FF2B5EF4-FFF2-40B4-BE49-F238E27FC236}">
                <a16:creationId xmlns:a16="http://schemas.microsoft.com/office/drawing/2014/main" id="{7A65E668-7AF8-21BE-9C87-F9FAD9C5AD23}"/>
              </a:ext>
            </a:extLst>
          </p:cNvPr>
          <p:cNvSpPr txBox="1"/>
          <p:nvPr/>
        </p:nvSpPr>
        <p:spPr>
          <a:xfrm>
            <a:off x="1122189" y="2632073"/>
            <a:ext cx="2224585" cy="261610"/>
          </a:xfrm>
          <a:prstGeom prst="rect">
            <a:avLst/>
          </a:prstGeom>
          <a:noFill/>
        </p:spPr>
        <p:txBody>
          <a:bodyPr wrap="square" rtlCol="0">
            <a:spAutoFit/>
          </a:bodyPr>
          <a:lstStyle/>
          <a:p>
            <a:r>
              <a:rPr lang="en-US" sz="1100" dirty="0"/>
              <a:t>Yes, I am 18 or older</a:t>
            </a:r>
          </a:p>
        </p:txBody>
      </p:sp>
      <p:sp>
        <p:nvSpPr>
          <p:cNvPr id="37" name="TextBox 36">
            <a:extLst>
              <a:ext uri="{FF2B5EF4-FFF2-40B4-BE49-F238E27FC236}">
                <a16:creationId xmlns:a16="http://schemas.microsoft.com/office/drawing/2014/main" id="{5E89D2AE-BF66-25C9-0105-075E4C1DA61C}"/>
              </a:ext>
            </a:extLst>
          </p:cNvPr>
          <p:cNvSpPr txBox="1"/>
          <p:nvPr/>
        </p:nvSpPr>
        <p:spPr>
          <a:xfrm>
            <a:off x="1122189" y="3698876"/>
            <a:ext cx="2224585" cy="261610"/>
          </a:xfrm>
          <a:prstGeom prst="rect">
            <a:avLst/>
          </a:prstGeom>
          <a:noFill/>
        </p:spPr>
        <p:txBody>
          <a:bodyPr wrap="square" rtlCol="0">
            <a:spAutoFit/>
          </a:bodyPr>
          <a:lstStyle/>
          <a:p>
            <a:r>
              <a:rPr lang="en-US" sz="1100" dirty="0"/>
              <a:t>I agree</a:t>
            </a:r>
          </a:p>
        </p:txBody>
      </p:sp>
      <p:sp>
        <p:nvSpPr>
          <p:cNvPr id="38" name="TextBox 37">
            <a:extLst>
              <a:ext uri="{FF2B5EF4-FFF2-40B4-BE49-F238E27FC236}">
                <a16:creationId xmlns:a16="http://schemas.microsoft.com/office/drawing/2014/main" id="{90B0DB52-1DC3-9D96-B145-9309DECC4B0A}"/>
              </a:ext>
            </a:extLst>
          </p:cNvPr>
          <p:cNvSpPr txBox="1"/>
          <p:nvPr/>
        </p:nvSpPr>
        <p:spPr>
          <a:xfrm>
            <a:off x="1122189" y="4526838"/>
            <a:ext cx="2224585" cy="261610"/>
          </a:xfrm>
          <a:prstGeom prst="rect">
            <a:avLst/>
          </a:prstGeom>
          <a:noFill/>
        </p:spPr>
        <p:txBody>
          <a:bodyPr wrap="square" rtlCol="0">
            <a:spAutoFit/>
          </a:bodyPr>
          <a:lstStyle/>
          <a:p>
            <a:r>
              <a:rPr lang="en-US" sz="1100" dirty="0"/>
              <a:t>Yes, you may contact me</a:t>
            </a:r>
          </a:p>
        </p:txBody>
      </p:sp>
      <p:sp>
        <p:nvSpPr>
          <p:cNvPr id="3" name="Google Shape;99;p14">
            <a:extLst>
              <a:ext uri="{FF2B5EF4-FFF2-40B4-BE49-F238E27FC236}">
                <a16:creationId xmlns:a16="http://schemas.microsoft.com/office/drawing/2014/main" id="{BAC30577-ECC6-2664-B638-8C4D053D3148}"/>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662246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B80C3493-326E-E090-E4F3-412A207BA5DE}"/>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CFB5FADF-0D18-2E17-C9DD-8E14CAF99627}"/>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
        <p:nvSpPr>
          <p:cNvPr id="4" name="Rectangle 3">
            <a:extLst>
              <a:ext uri="{FF2B5EF4-FFF2-40B4-BE49-F238E27FC236}">
                <a16:creationId xmlns:a16="http://schemas.microsoft.com/office/drawing/2014/main" id="{07DAEEB7-4F87-7065-111A-4FE61A4222EF}"/>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0693C4-6AD3-3603-1B9B-2ED2CB6EC889}"/>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A9CAF0EE-C7E4-7BE6-3BEE-459E7C181866}"/>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4E543C94-1F4E-D9B0-2601-8A2EFA9C70F8}"/>
              </a:ext>
            </a:extLst>
          </p:cNvPr>
          <p:cNvSpPr txBox="1"/>
          <p:nvPr/>
        </p:nvSpPr>
        <p:spPr>
          <a:xfrm>
            <a:off x="649356" y="1864728"/>
            <a:ext cx="4891633" cy="307777"/>
          </a:xfrm>
          <a:prstGeom prst="rect">
            <a:avLst/>
          </a:prstGeom>
          <a:noFill/>
        </p:spPr>
        <p:txBody>
          <a:bodyPr wrap="square" rtlCol="0">
            <a:spAutoFit/>
          </a:bodyPr>
          <a:lstStyle/>
          <a:p>
            <a:r>
              <a:rPr lang="en-US" b="1" dirty="0"/>
              <a:t>2. Contact Information</a:t>
            </a:r>
            <a:endParaRPr lang="en-US" dirty="0"/>
          </a:p>
        </p:txBody>
      </p:sp>
      <p:sp>
        <p:nvSpPr>
          <p:cNvPr id="2" name="TextBox 1">
            <a:extLst>
              <a:ext uri="{FF2B5EF4-FFF2-40B4-BE49-F238E27FC236}">
                <a16:creationId xmlns:a16="http://schemas.microsoft.com/office/drawing/2014/main" id="{BD6CBE85-9039-7CD0-10A8-4C3E1027F984}"/>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5FEB41C1-B0A6-38C7-767C-CCDC63A2A750}"/>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8FD0BDBA-E1D3-DAD3-2C8F-9ABE426405B7}"/>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D68080E-F656-95B4-9BE6-4A0D505416F9}"/>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E0149338-F365-79F3-8F56-80761F7CBB9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01F66CC-97E7-46AE-7C74-928723AE579F}"/>
              </a:ext>
            </a:extLst>
          </p:cNvPr>
          <p:cNvSpPr txBox="1"/>
          <p:nvPr/>
        </p:nvSpPr>
        <p:spPr>
          <a:xfrm>
            <a:off x="2306684" y="1332204"/>
            <a:ext cx="1253344" cy="307777"/>
          </a:xfrm>
          <a:prstGeom prst="rect">
            <a:avLst/>
          </a:prstGeom>
          <a:noFill/>
        </p:spPr>
        <p:txBody>
          <a:bodyPr wrap="square" rtlCol="0">
            <a:spAutoFit/>
          </a:bodyPr>
          <a:lstStyle/>
          <a:p>
            <a:r>
              <a:rPr lang="en-US" dirty="0"/>
              <a:t>5% Complete</a:t>
            </a:r>
          </a:p>
        </p:txBody>
      </p:sp>
      <p:sp>
        <p:nvSpPr>
          <p:cNvPr id="27" name="Rectangle: Rounded Corners 26">
            <a:extLst>
              <a:ext uri="{FF2B5EF4-FFF2-40B4-BE49-F238E27FC236}">
                <a16:creationId xmlns:a16="http://schemas.microsoft.com/office/drawing/2014/main" id="{05C1709E-4E4B-1E0B-4AA5-AB1BE322BEE0}"/>
              </a:ext>
            </a:extLst>
          </p:cNvPr>
          <p:cNvSpPr/>
          <p:nvPr/>
        </p:nvSpPr>
        <p:spPr>
          <a:xfrm>
            <a:off x="812041" y="2515214"/>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C299558-DC4B-F34A-0FD4-E20772043681}"/>
              </a:ext>
            </a:extLst>
          </p:cNvPr>
          <p:cNvSpPr txBox="1"/>
          <p:nvPr/>
        </p:nvSpPr>
        <p:spPr>
          <a:xfrm>
            <a:off x="723331" y="2186457"/>
            <a:ext cx="4817658" cy="2862322"/>
          </a:xfrm>
          <a:prstGeom prst="rect">
            <a:avLst/>
          </a:prstGeom>
          <a:noFill/>
        </p:spPr>
        <p:txBody>
          <a:bodyPr wrap="square">
            <a:spAutoFit/>
          </a:bodyPr>
          <a:lstStyle/>
          <a:p>
            <a:pPr lvl="3"/>
            <a:r>
              <a:rPr lang="en-US" sz="1200" b="1" dirty="0"/>
              <a:t>First Name</a:t>
            </a:r>
            <a:r>
              <a:rPr lang="en-US" sz="1200" b="1" dirty="0">
                <a:solidFill>
                  <a:srgbClr val="FF0000"/>
                </a:solidFill>
              </a:rPr>
              <a:t>*</a:t>
            </a:r>
          </a:p>
          <a:p>
            <a:pPr lvl="3"/>
            <a:endParaRPr lang="en-US" sz="1200" b="1" dirty="0"/>
          </a:p>
          <a:p>
            <a:pPr lvl="3"/>
            <a:endParaRPr lang="en-US" sz="1200" b="1" dirty="0"/>
          </a:p>
          <a:p>
            <a:pPr lvl="3"/>
            <a:endParaRPr lang="en-US" sz="1200" b="1" dirty="0"/>
          </a:p>
          <a:p>
            <a:pPr lvl="3"/>
            <a:r>
              <a:rPr lang="en-US" sz="1200" b="1" dirty="0"/>
              <a:t>Last Name</a:t>
            </a:r>
            <a:r>
              <a:rPr lang="en-US" sz="1200" b="1" dirty="0">
                <a:solidFill>
                  <a:srgbClr val="FF0000"/>
                </a:solidFill>
              </a:rPr>
              <a:t> *</a:t>
            </a:r>
            <a:endParaRPr lang="en-US" sz="1200" b="1" dirty="0"/>
          </a:p>
          <a:p>
            <a:pPr lvl="3"/>
            <a:endParaRPr lang="en-US" sz="1200" b="1" dirty="0"/>
          </a:p>
          <a:p>
            <a:pPr lvl="3"/>
            <a:endParaRPr lang="en-US" sz="1200" b="1" dirty="0"/>
          </a:p>
          <a:p>
            <a:pPr lvl="3"/>
            <a:endParaRPr lang="en-US" sz="1200" b="1" dirty="0"/>
          </a:p>
          <a:p>
            <a:pPr lvl="3"/>
            <a:r>
              <a:rPr lang="en-US" sz="1200" b="1" dirty="0"/>
              <a:t>Email Address</a:t>
            </a:r>
            <a:r>
              <a:rPr lang="en-US" sz="1200" b="1" dirty="0">
                <a:solidFill>
                  <a:srgbClr val="FF0000"/>
                </a:solidFill>
              </a:rPr>
              <a:t> *</a:t>
            </a:r>
            <a:endParaRPr lang="en-US" sz="1200" b="1" dirty="0"/>
          </a:p>
          <a:p>
            <a:pPr lvl="3"/>
            <a:endParaRPr lang="en-US" sz="1200" b="1" dirty="0"/>
          </a:p>
          <a:p>
            <a:pPr lvl="3"/>
            <a:endParaRPr lang="en-US" sz="1200" b="1" dirty="0"/>
          </a:p>
          <a:p>
            <a:pPr lvl="3"/>
            <a:endParaRPr lang="en-US" sz="1200" b="1" dirty="0"/>
          </a:p>
          <a:p>
            <a:pPr lvl="3"/>
            <a:r>
              <a:rPr lang="en-US" sz="1200" b="1" dirty="0"/>
              <a:t>Phone Number (optional)</a:t>
            </a:r>
          </a:p>
          <a:p>
            <a:pPr lvl="3"/>
            <a:endParaRPr lang="en-US" sz="1200" b="1" dirty="0"/>
          </a:p>
          <a:p>
            <a:pPr lvl="3"/>
            <a:r>
              <a:rPr lang="en-US" sz="1200" b="1" dirty="0"/>
              <a:t> </a:t>
            </a:r>
          </a:p>
        </p:txBody>
      </p:sp>
      <p:sp>
        <p:nvSpPr>
          <p:cNvPr id="30" name="Rectangle: Rounded Corners 29">
            <a:extLst>
              <a:ext uri="{FF2B5EF4-FFF2-40B4-BE49-F238E27FC236}">
                <a16:creationId xmlns:a16="http://schemas.microsoft.com/office/drawing/2014/main" id="{E138EF6A-EAD5-87BA-8A35-8704008BB412}"/>
              </a:ext>
            </a:extLst>
          </p:cNvPr>
          <p:cNvSpPr/>
          <p:nvPr/>
        </p:nvSpPr>
        <p:spPr>
          <a:xfrm>
            <a:off x="812041" y="3230029"/>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ECBBC9C1-94D7-E67A-E76E-33B44B4DDB9F}"/>
              </a:ext>
            </a:extLst>
          </p:cNvPr>
          <p:cNvSpPr/>
          <p:nvPr/>
        </p:nvSpPr>
        <p:spPr>
          <a:xfrm>
            <a:off x="812041" y="4664817"/>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AC3E9047-BAF2-E180-6152-3602C0EF006A}"/>
              </a:ext>
            </a:extLst>
          </p:cNvPr>
          <p:cNvSpPr/>
          <p:nvPr/>
        </p:nvSpPr>
        <p:spPr>
          <a:xfrm>
            <a:off x="814314" y="3967352"/>
            <a:ext cx="4299045"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oogle Shape;99;p14">
            <a:extLst>
              <a:ext uri="{FF2B5EF4-FFF2-40B4-BE49-F238E27FC236}">
                <a16:creationId xmlns:a16="http://schemas.microsoft.com/office/drawing/2014/main" id="{6E09A931-A5E6-F1CB-FC99-0D436FAE72F9}"/>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946512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D52F181-7696-A64E-CB57-F98D825E5B19}"/>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7B1A7FB9-1FFF-04D8-7567-B6E37B4B398C}"/>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4" name="Rectangle 3">
            <a:extLst>
              <a:ext uri="{FF2B5EF4-FFF2-40B4-BE49-F238E27FC236}">
                <a16:creationId xmlns:a16="http://schemas.microsoft.com/office/drawing/2014/main" id="{DB79BDD5-6A46-E48F-E875-71800547A06D}"/>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CCCFF1-32E2-FD0F-AB5C-9562FA087D4F}"/>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FE5A2481-9FF1-B30D-98FE-EAA146A9293E}"/>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D5ED5A4D-A14B-508C-F8AA-FA76E75B4C18}"/>
              </a:ext>
            </a:extLst>
          </p:cNvPr>
          <p:cNvSpPr txBox="1"/>
          <p:nvPr/>
        </p:nvSpPr>
        <p:spPr>
          <a:xfrm>
            <a:off x="649356" y="1932968"/>
            <a:ext cx="4891633" cy="738664"/>
          </a:xfrm>
          <a:prstGeom prst="rect">
            <a:avLst/>
          </a:prstGeom>
          <a:noFill/>
        </p:spPr>
        <p:txBody>
          <a:bodyPr wrap="square" rtlCol="0">
            <a:spAutoFit/>
          </a:bodyPr>
          <a:lstStyle/>
          <a:p>
            <a:r>
              <a:rPr lang="en-US" b="1" dirty="0"/>
              <a:t>3. Which of the following best describes your race or ethnicity? (Select all that apply)</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BF305AD0-C117-6F53-2B05-62E3EBEE8740}"/>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D29712D4-8B46-310B-6538-D83E06EBA901}"/>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8ED60F75-8927-5BAC-71F5-72E97595EA9A}"/>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4FFA8AA-DA3F-92EA-FBD8-FC0FFCBFB38C}"/>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45F7504D-2F30-3C3E-19E9-A8A9D3E7E06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0BB74A2-312F-BA27-2EAF-FBE5E14F08E6}"/>
              </a:ext>
            </a:extLst>
          </p:cNvPr>
          <p:cNvSpPr txBox="1"/>
          <p:nvPr/>
        </p:nvSpPr>
        <p:spPr>
          <a:xfrm>
            <a:off x="2306683" y="1332204"/>
            <a:ext cx="1391859" cy="307777"/>
          </a:xfrm>
          <a:prstGeom prst="rect">
            <a:avLst/>
          </a:prstGeom>
          <a:noFill/>
        </p:spPr>
        <p:txBody>
          <a:bodyPr wrap="square" rtlCol="0">
            <a:spAutoFit/>
          </a:bodyPr>
          <a:lstStyle/>
          <a:p>
            <a:r>
              <a:rPr lang="en-US" dirty="0"/>
              <a:t>11% Complete</a:t>
            </a:r>
          </a:p>
        </p:txBody>
      </p:sp>
      <p:pic>
        <p:nvPicPr>
          <p:cNvPr id="17" name="Graphic 16" descr="Checkbox Checked outline">
            <a:extLst>
              <a:ext uri="{FF2B5EF4-FFF2-40B4-BE49-F238E27FC236}">
                <a16:creationId xmlns:a16="http://schemas.microsoft.com/office/drawing/2014/main" id="{149E1A4F-BCDF-DEB2-B83A-4977B67E65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446849"/>
            <a:ext cx="340520" cy="340520"/>
          </a:xfrm>
          <a:prstGeom prst="rect">
            <a:avLst/>
          </a:prstGeom>
        </p:spPr>
      </p:pic>
      <p:sp>
        <p:nvSpPr>
          <p:cNvPr id="18" name="Rectangle 17">
            <a:extLst>
              <a:ext uri="{FF2B5EF4-FFF2-40B4-BE49-F238E27FC236}">
                <a16:creationId xmlns:a16="http://schemas.microsoft.com/office/drawing/2014/main" id="{7532FADC-6127-593A-9856-BC9DCF999369}"/>
              </a:ext>
            </a:extLst>
          </p:cNvPr>
          <p:cNvSpPr/>
          <p:nvPr/>
        </p:nvSpPr>
        <p:spPr>
          <a:xfrm>
            <a:off x="710023" y="291501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B95B6FA-B922-8A28-0CBF-F3E34C147748}"/>
              </a:ext>
            </a:extLst>
          </p:cNvPr>
          <p:cNvSpPr/>
          <p:nvPr/>
        </p:nvSpPr>
        <p:spPr>
          <a:xfrm>
            <a:off x="710023" y="327212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0B68854-6FEF-D4E2-E567-760CEF9A13EE}"/>
              </a:ext>
            </a:extLst>
          </p:cNvPr>
          <p:cNvSpPr/>
          <p:nvPr/>
        </p:nvSpPr>
        <p:spPr>
          <a:xfrm>
            <a:off x="710023" y="398636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292FFC8-26ED-D20D-7877-992F724C65A9}"/>
              </a:ext>
            </a:extLst>
          </p:cNvPr>
          <p:cNvSpPr txBox="1"/>
          <p:nvPr/>
        </p:nvSpPr>
        <p:spPr>
          <a:xfrm>
            <a:off x="990032" y="2463609"/>
            <a:ext cx="6097136" cy="2523768"/>
          </a:xfrm>
          <a:prstGeom prst="rect">
            <a:avLst/>
          </a:prstGeom>
          <a:noFill/>
        </p:spPr>
        <p:txBody>
          <a:bodyPr wrap="square">
            <a:spAutoFit/>
          </a:bodyPr>
          <a:lstStyle/>
          <a:p>
            <a:pPr lvl="3">
              <a:spcBef>
                <a:spcPts val="1200"/>
              </a:spcBef>
            </a:pPr>
            <a:r>
              <a:rPr lang="en-US" dirty="0"/>
              <a:t>White</a:t>
            </a:r>
          </a:p>
          <a:p>
            <a:pPr lvl="3">
              <a:spcBef>
                <a:spcPts val="1200"/>
              </a:spcBef>
            </a:pPr>
            <a:r>
              <a:rPr lang="en-US" dirty="0"/>
              <a:t>Black or African American</a:t>
            </a:r>
          </a:p>
          <a:p>
            <a:pPr lvl="3">
              <a:spcBef>
                <a:spcPts val="1200"/>
              </a:spcBef>
            </a:pPr>
            <a:r>
              <a:rPr lang="en-US" dirty="0"/>
              <a:t>American Indian or Alaska Native</a:t>
            </a:r>
          </a:p>
          <a:p>
            <a:pPr lvl="3">
              <a:spcBef>
                <a:spcPts val="1200"/>
              </a:spcBef>
            </a:pPr>
            <a:r>
              <a:rPr lang="en-US" dirty="0"/>
              <a:t>Hispanic or Latino</a:t>
            </a:r>
          </a:p>
          <a:p>
            <a:pPr lvl="3">
              <a:spcBef>
                <a:spcPts val="1200"/>
              </a:spcBef>
            </a:pPr>
            <a:r>
              <a:rPr lang="en-US" dirty="0"/>
              <a:t>Asian</a:t>
            </a:r>
          </a:p>
          <a:p>
            <a:pPr lvl="3">
              <a:spcBef>
                <a:spcPts val="1200"/>
              </a:spcBef>
            </a:pPr>
            <a:r>
              <a:rPr lang="en-US" dirty="0"/>
              <a:t>Native Hawaiian or Pacific Islander</a:t>
            </a:r>
          </a:p>
          <a:p>
            <a:pPr lvl="3">
              <a:spcBef>
                <a:spcPts val="1200"/>
              </a:spcBef>
            </a:pPr>
            <a:r>
              <a:rPr lang="en-US" dirty="0"/>
              <a:t>Some other race (specify)</a:t>
            </a:r>
          </a:p>
        </p:txBody>
      </p:sp>
      <p:sp>
        <p:nvSpPr>
          <p:cNvPr id="24" name="Rectangle 23">
            <a:extLst>
              <a:ext uri="{FF2B5EF4-FFF2-40B4-BE49-F238E27FC236}">
                <a16:creationId xmlns:a16="http://schemas.microsoft.com/office/drawing/2014/main" id="{93C87714-7A2C-38EB-CBD9-B6D77BD8FAAF}"/>
              </a:ext>
            </a:extLst>
          </p:cNvPr>
          <p:cNvSpPr/>
          <p:nvPr/>
        </p:nvSpPr>
        <p:spPr>
          <a:xfrm>
            <a:off x="713361" y="436017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8CFFEDA-3483-6D09-62F4-F1A05FBEAA42}"/>
              </a:ext>
            </a:extLst>
          </p:cNvPr>
          <p:cNvSpPr/>
          <p:nvPr/>
        </p:nvSpPr>
        <p:spPr>
          <a:xfrm>
            <a:off x="716699" y="4733991"/>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99;p14">
            <a:extLst>
              <a:ext uri="{FF2B5EF4-FFF2-40B4-BE49-F238E27FC236}">
                <a16:creationId xmlns:a16="http://schemas.microsoft.com/office/drawing/2014/main" id="{59A2DCF0-DE1F-1BB3-B2A7-A1B67DB2C8F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pic>
        <p:nvPicPr>
          <p:cNvPr id="9" name="Graphic 8" descr="Checkbox Checked outline">
            <a:extLst>
              <a:ext uri="{FF2B5EF4-FFF2-40B4-BE49-F238E27FC236}">
                <a16:creationId xmlns:a16="http://schemas.microsoft.com/office/drawing/2014/main" id="{2C181D84-AD1D-BAA3-F390-F9117413F0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497" y="3520275"/>
            <a:ext cx="340520" cy="340520"/>
          </a:xfrm>
          <a:prstGeom prst="rect">
            <a:avLst/>
          </a:prstGeom>
        </p:spPr>
      </p:pic>
    </p:spTree>
    <p:extLst>
      <p:ext uri="{BB962C8B-B14F-4D97-AF65-F5344CB8AC3E}">
        <p14:creationId xmlns:p14="http://schemas.microsoft.com/office/powerpoint/2010/main" val="2377082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A159BD30-72F4-892B-FCB7-8101C3ED4F46}"/>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92E55242-8F98-C368-4B5C-89CE92CF38DE}"/>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4" name="Rectangle 3">
            <a:extLst>
              <a:ext uri="{FF2B5EF4-FFF2-40B4-BE49-F238E27FC236}">
                <a16:creationId xmlns:a16="http://schemas.microsoft.com/office/drawing/2014/main" id="{777F02D4-24A1-7F30-D73F-24BCCDCC1971}"/>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71B9AB3-CC68-08E7-3B26-12B27AC44974}"/>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37994381-4AA3-49C8-5252-74CFD3BA7D29}"/>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B83BF4CE-7787-EF8D-E5CB-788E9CAED78C}"/>
              </a:ext>
            </a:extLst>
          </p:cNvPr>
          <p:cNvSpPr txBox="1"/>
          <p:nvPr/>
        </p:nvSpPr>
        <p:spPr>
          <a:xfrm>
            <a:off x="649356" y="2035328"/>
            <a:ext cx="4891633" cy="523220"/>
          </a:xfrm>
          <a:prstGeom prst="rect">
            <a:avLst/>
          </a:prstGeom>
          <a:noFill/>
        </p:spPr>
        <p:txBody>
          <a:bodyPr wrap="square" rtlCol="0">
            <a:spAutoFit/>
          </a:bodyPr>
          <a:lstStyle/>
          <a:p>
            <a:r>
              <a:rPr lang="en-US" b="1" dirty="0"/>
              <a:t>4. Enter your age (required)</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2AAA007A-1298-D558-E687-3D820F3D36AC}"/>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EEAA9565-D8FF-2468-90CB-6EF4B88087CB}"/>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C30DCC44-6F28-6D3F-0444-E7258D97E209}"/>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2C50CEF-36CC-A052-BEA5-472A450DD402}"/>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1399AEC-F00D-A0BD-C386-71621256054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B0B1890-2D7E-C61B-F38E-4AC6A3501073}"/>
              </a:ext>
            </a:extLst>
          </p:cNvPr>
          <p:cNvSpPr txBox="1"/>
          <p:nvPr/>
        </p:nvSpPr>
        <p:spPr>
          <a:xfrm>
            <a:off x="2306683" y="1332204"/>
            <a:ext cx="1425979" cy="307777"/>
          </a:xfrm>
          <a:prstGeom prst="rect">
            <a:avLst/>
          </a:prstGeom>
          <a:noFill/>
        </p:spPr>
        <p:txBody>
          <a:bodyPr wrap="square" rtlCol="0">
            <a:spAutoFit/>
          </a:bodyPr>
          <a:lstStyle/>
          <a:p>
            <a:r>
              <a:rPr lang="en-US" dirty="0"/>
              <a:t>16% Complete</a:t>
            </a:r>
          </a:p>
        </p:txBody>
      </p:sp>
      <p:sp>
        <p:nvSpPr>
          <p:cNvPr id="3" name="Rectangle: Rounded Corners 2">
            <a:extLst>
              <a:ext uri="{FF2B5EF4-FFF2-40B4-BE49-F238E27FC236}">
                <a16:creationId xmlns:a16="http://schemas.microsoft.com/office/drawing/2014/main" id="{9AA98C00-4A26-01D7-E758-D1B277053714}"/>
              </a:ext>
            </a:extLst>
          </p:cNvPr>
          <p:cNvSpPr/>
          <p:nvPr/>
        </p:nvSpPr>
        <p:spPr>
          <a:xfrm>
            <a:off x="764275" y="2422338"/>
            <a:ext cx="3835020"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5C522015-6774-4BA5-0E32-579D028C0299}"/>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75885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F195976-2BAB-C95F-AB07-C957FA25800F}"/>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FCF21C8F-BCE4-AA6A-5160-ABA95AA2EC6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4" name="Rectangle 3">
            <a:extLst>
              <a:ext uri="{FF2B5EF4-FFF2-40B4-BE49-F238E27FC236}">
                <a16:creationId xmlns:a16="http://schemas.microsoft.com/office/drawing/2014/main" id="{B3E36D78-944D-2F01-C4ED-000D2828CF60}"/>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791F9B3-CF81-D7EE-D5F7-7951A83AEE5F}"/>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4C3473A4-B845-6E5A-B124-F2DF707281EA}"/>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C878B380-03D6-EAB1-A2A7-BAC54E8163A7}"/>
              </a:ext>
            </a:extLst>
          </p:cNvPr>
          <p:cNvSpPr txBox="1"/>
          <p:nvPr/>
        </p:nvSpPr>
        <p:spPr>
          <a:xfrm>
            <a:off x="649356" y="2035328"/>
            <a:ext cx="4891633" cy="523220"/>
          </a:xfrm>
          <a:prstGeom prst="rect">
            <a:avLst/>
          </a:prstGeom>
          <a:noFill/>
        </p:spPr>
        <p:txBody>
          <a:bodyPr wrap="square" rtlCol="0">
            <a:spAutoFit/>
          </a:bodyPr>
          <a:lstStyle/>
          <a:p>
            <a:r>
              <a:rPr lang="en-US" b="1" dirty="0"/>
              <a:t>5. Enter your zip code (required)</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2D61559A-EB42-42A4-EAA8-2F1A2DC13036}"/>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FADB4310-C59E-6DE1-A20F-456557E0AE71}"/>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6BFAF365-5AB6-59A8-6E10-52E048728D46}"/>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08CB8FF-1CC4-A09A-22D2-EBC639915F52}"/>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566DDC6C-8544-41FC-073B-22E27E8B12D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834FDB9-F806-8715-8D75-95EF0C4090DF}"/>
              </a:ext>
            </a:extLst>
          </p:cNvPr>
          <p:cNvSpPr txBox="1"/>
          <p:nvPr/>
        </p:nvSpPr>
        <p:spPr>
          <a:xfrm>
            <a:off x="2306684" y="1332204"/>
            <a:ext cx="1524926" cy="307777"/>
          </a:xfrm>
          <a:prstGeom prst="rect">
            <a:avLst/>
          </a:prstGeom>
          <a:noFill/>
        </p:spPr>
        <p:txBody>
          <a:bodyPr wrap="square" rtlCol="0">
            <a:spAutoFit/>
          </a:bodyPr>
          <a:lstStyle/>
          <a:p>
            <a:r>
              <a:rPr lang="en-US" dirty="0"/>
              <a:t>21% Complete</a:t>
            </a:r>
          </a:p>
        </p:txBody>
      </p:sp>
      <p:sp>
        <p:nvSpPr>
          <p:cNvPr id="3" name="Rectangle: Rounded Corners 2">
            <a:extLst>
              <a:ext uri="{FF2B5EF4-FFF2-40B4-BE49-F238E27FC236}">
                <a16:creationId xmlns:a16="http://schemas.microsoft.com/office/drawing/2014/main" id="{350B9DAF-5474-5CDA-9FC7-418FAA3F3603}"/>
              </a:ext>
            </a:extLst>
          </p:cNvPr>
          <p:cNvSpPr/>
          <p:nvPr/>
        </p:nvSpPr>
        <p:spPr>
          <a:xfrm>
            <a:off x="764275" y="2422338"/>
            <a:ext cx="3835020" cy="313898"/>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BBFA658-EB45-DE2D-4866-B155113D3D42}"/>
              </a:ext>
            </a:extLst>
          </p:cNvPr>
          <p:cNvSpPr/>
          <p:nvPr/>
        </p:nvSpPr>
        <p:spPr>
          <a:xfrm>
            <a:off x="6005015" y="2210938"/>
            <a:ext cx="156949" cy="150126"/>
          </a:xfrm>
          <a:prstGeom prst="ellipse">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99;p14">
            <a:extLst>
              <a:ext uri="{FF2B5EF4-FFF2-40B4-BE49-F238E27FC236}">
                <a16:creationId xmlns:a16="http://schemas.microsoft.com/office/drawing/2014/main" id="{CA69059F-280C-D734-6E0E-A73255076881}"/>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65270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6362FC5C-440E-5A48-929C-62E703919A34}"/>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5CC716FD-872E-333A-9B33-3986379B1A12}"/>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4" name="Rectangle 3">
            <a:extLst>
              <a:ext uri="{FF2B5EF4-FFF2-40B4-BE49-F238E27FC236}">
                <a16:creationId xmlns:a16="http://schemas.microsoft.com/office/drawing/2014/main" id="{2BC5FB3F-3A8D-720D-D86A-81C32C18B2A8}"/>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ACAEEF8-2F9D-18B6-45B4-61EE6E78D8C9}"/>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80BE3B50-A7D3-4CA0-43E1-A8089742B901}"/>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DF5B6ED9-3504-B32C-EA71-AB9EBF962C26}"/>
              </a:ext>
            </a:extLst>
          </p:cNvPr>
          <p:cNvSpPr txBox="1"/>
          <p:nvPr/>
        </p:nvSpPr>
        <p:spPr>
          <a:xfrm>
            <a:off x="649356" y="1932968"/>
            <a:ext cx="4891633" cy="523220"/>
          </a:xfrm>
          <a:prstGeom prst="rect">
            <a:avLst/>
          </a:prstGeom>
          <a:noFill/>
        </p:spPr>
        <p:txBody>
          <a:bodyPr wrap="square" rtlCol="0">
            <a:spAutoFit/>
          </a:bodyPr>
          <a:lstStyle/>
          <a:p>
            <a:r>
              <a:rPr lang="en-US" b="1" dirty="0"/>
              <a:t>6. What is your household income?</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0F19DF0E-6E06-344A-C787-2AA942E15485}"/>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8A0215C4-AFE6-D53A-BCDA-61064DE086A6}"/>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14AC8C5-527F-3B01-2A5D-35ACECEDE7E0}"/>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8413E43-DC48-6202-3B5B-71A41185B270}"/>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78691DE-5874-4300-273D-FDC32D6E2A3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8491C60-904F-7BA8-713A-B675B035A86D}"/>
              </a:ext>
            </a:extLst>
          </p:cNvPr>
          <p:cNvSpPr txBox="1"/>
          <p:nvPr/>
        </p:nvSpPr>
        <p:spPr>
          <a:xfrm>
            <a:off x="2306683" y="1332204"/>
            <a:ext cx="1637519" cy="307777"/>
          </a:xfrm>
          <a:prstGeom prst="rect">
            <a:avLst/>
          </a:prstGeom>
          <a:noFill/>
        </p:spPr>
        <p:txBody>
          <a:bodyPr wrap="square" rtlCol="0">
            <a:spAutoFit/>
          </a:bodyPr>
          <a:lstStyle/>
          <a:p>
            <a:r>
              <a:rPr lang="en-US" dirty="0"/>
              <a:t>26% Complete</a:t>
            </a:r>
          </a:p>
        </p:txBody>
      </p:sp>
      <p:pic>
        <p:nvPicPr>
          <p:cNvPr id="17" name="Graphic 16" descr="Checkbox Checked outline">
            <a:extLst>
              <a:ext uri="{FF2B5EF4-FFF2-40B4-BE49-F238E27FC236}">
                <a16:creationId xmlns:a16="http://schemas.microsoft.com/office/drawing/2014/main" id="{170E894C-D927-2309-5E4A-7381B9133E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317193"/>
            <a:ext cx="340520" cy="340520"/>
          </a:xfrm>
          <a:prstGeom prst="rect">
            <a:avLst/>
          </a:prstGeom>
        </p:spPr>
      </p:pic>
      <p:sp>
        <p:nvSpPr>
          <p:cNvPr id="18" name="Rectangle 17">
            <a:extLst>
              <a:ext uri="{FF2B5EF4-FFF2-40B4-BE49-F238E27FC236}">
                <a16:creationId xmlns:a16="http://schemas.microsoft.com/office/drawing/2014/main" id="{9C39BE3A-E104-7EEC-37DF-485BAB92EF0C}"/>
              </a:ext>
            </a:extLst>
          </p:cNvPr>
          <p:cNvSpPr/>
          <p:nvPr/>
        </p:nvSpPr>
        <p:spPr>
          <a:xfrm>
            <a:off x="710023" y="2785354"/>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65B8EA7-D54E-8A0A-0503-586CAA58998B}"/>
              </a:ext>
            </a:extLst>
          </p:cNvPr>
          <p:cNvSpPr/>
          <p:nvPr/>
        </p:nvSpPr>
        <p:spPr>
          <a:xfrm>
            <a:off x="710023" y="3142473"/>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93B130B-5B56-1B1C-D2B5-D3A87BCD4E66}"/>
              </a:ext>
            </a:extLst>
          </p:cNvPr>
          <p:cNvSpPr/>
          <p:nvPr/>
        </p:nvSpPr>
        <p:spPr>
          <a:xfrm>
            <a:off x="710023" y="3499592"/>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4B3A9B0-A8F6-E738-88A7-38BDACFDA7A8}"/>
              </a:ext>
            </a:extLst>
          </p:cNvPr>
          <p:cNvSpPr/>
          <p:nvPr/>
        </p:nvSpPr>
        <p:spPr>
          <a:xfrm>
            <a:off x="710023" y="3856711"/>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C43CB1E-F14C-F77C-13B5-19F2278534B4}"/>
              </a:ext>
            </a:extLst>
          </p:cNvPr>
          <p:cNvSpPr txBox="1"/>
          <p:nvPr/>
        </p:nvSpPr>
        <p:spPr>
          <a:xfrm>
            <a:off x="990032" y="2333953"/>
            <a:ext cx="6097136" cy="1785104"/>
          </a:xfrm>
          <a:prstGeom prst="rect">
            <a:avLst/>
          </a:prstGeom>
          <a:noFill/>
        </p:spPr>
        <p:txBody>
          <a:bodyPr wrap="square">
            <a:spAutoFit/>
          </a:bodyPr>
          <a:lstStyle/>
          <a:p>
            <a:pPr lvl="3">
              <a:spcBef>
                <a:spcPts val="1200"/>
              </a:spcBef>
            </a:pPr>
            <a:r>
              <a:rPr lang="en-US" dirty="0"/>
              <a:t>Under $50,000</a:t>
            </a:r>
          </a:p>
          <a:p>
            <a:pPr lvl="3">
              <a:spcBef>
                <a:spcPts val="1200"/>
              </a:spcBef>
            </a:pPr>
            <a:r>
              <a:rPr lang="en-US" dirty="0"/>
              <a:t>$50,000 to $99,999</a:t>
            </a:r>
          </a:p>
          <a:p>
            <a:pPr lvl="3">
              <a:spcBef>
                <a:spcPts val="1200"/>
              </a:spcBef>
            </a:pPr>
            <a:r>
              <a:rPr lang="en-US" dirty="0"/>
              <a:t>$100,000 to $149,999</a:t>
            </a:r>
          </a:p>
          <a:p>
            <a:pPr lvl="3">
              <a:spcBef>
                <a:spcPts val="1200"/>
              </a:spcBef>
            </a:pPr>
            <a:r>
              <a:rPr lang="en-US" dirty="0"/>
              <a:t>$150,000 or more</a:t>
            </a:r>
          </a:p>
          <a:p>
            <a:pPr lvl="3">
              <a:spcBef>
                <a:spcPts val="1200"/>
              </a:spcBef>
            </a:pPr>
            <a:r>
              <a:rPr lang="en-US" dirty="0"/>
              <a:t>Prefer not to say</a:t>
            </a:r>
          </a:p>
        </p:txBody>
      </p:sp>
      <p:sp>
        <p:nvSpPr>
          <p:cNvPr id="3" name="Google Shape;99;p14">
            <a:extLst>
              <a:ext uri="{FF2B5EF4-FFF2-40B4-BE49-F238E27FC236}">
                <a16:creationId xmlns:a16="http://schemas.microsoft.com/office/drawing/2014/main" id="{14114928-2017-6057-5437-3A6C0CED9CFF}"/>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147161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455BD158-732C-5B3F-95F7-E0FDEBFB690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5228788D-8927-DE9E-9121-91A52F1F8C40}"/>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4" name="Rectangle 3">
            <a:extLst>
              <a:ext uri="{FF2B5EF4-FFF2-40B4-BE49-F238E27FC236}">
                <a16:creationId xmlns:a16="http://schemas.microsoft.com/office/drawing/2014/main" id="{32E29819-18AF-CDAC-682E-FB104485308D}"/>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0086F1-5CF6-1190-BA24-64F8CD0834BF}"/>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C06678E8-471B-E574-3C68-F7E5171E2344}"/>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F8CC343B-4054-E4CC-60CD-85329063E5A4}"/>
              </a:ext>
            </a:extLst>
          </p:cNvPr>
          <p:cNvSpPr txBox="1"/>
          <p:nvPr/>
        </p:nvSpPr>
        <p:spPr>
          <a:xfrm>
            <a:off x="649356" y="2035328"/>
            <a:ext cx="4891633" cy="523220"/>
          </a:xfrm>
          <a:prstGeom prst="rect">
            <a:avLst/>
          </a:prstGeom>
          <a:noFill/>
        </p:spPr>
        <p:txBody>
          <a:bodyPr wrap="square" rtlCol="0">
            <a:spAutoFit/>
          </a:bodyPr>
          <a:lstStyle/>
          <a:p>
            <a:r>
              <a:rPr lang="en-US" b="1" dirty="0"/>
              <a:t>7. What is your gender?</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4F4F700C-5A73-30DC-FC18-DD7080321E13}"/>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D51B84EF-90BF-0DCE-72A2-90910EDCE7C6}"/>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A5C32A1E-CC95-1999-D6D5-4B32B0D09FEA}"/>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1CA7B30-E5AF-D9EC-4E69-2C92D5DB53E9}"/>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64F6674B-A6D8-9840-3313-CC119D38DCD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BD9AE59-008F-E2CC-5E80-5C5510A9677D}"/>
              </a:ext>
            </a:extLst>
          </p:cNvPr>
          <p:cNvSpPr txBox="1"/>
          <p:nvPr/>
        </p:nvSpPr>
        <p:spPr>
          <a:xfrm>
            <a:off x="2306684" y="1332204"/>
            <a:ext cx="1524926" cy="307777"/>
          </a:xfrm>
          <a:prstGeom prst="rect">
            <a:avLst/>
          </a:prstGeom>
          <a:noFill/>
        </p:spPr>
        <p:txBody>
          <a:bodyPr wrap="square" rtlCol="0">
            <a:spAutoFit/>
          </a:bodyPr>
          <a:lstStyle/>
          <a:p>
            <a:r>
              <a:rPr lang="en-US" dirty="0"/>
              <a:t>32% Complete</a:t>
            </a:r>
          </a:p>
        </p:txBody>
      </p:sp>
      <p:pic>
        <p:nvPicPr>
          <p:cNvPr id="12" name="Graphic 11" descr="Checkbox Checked outline">
            <a:extLst>
              <a:ext uri="{FF2B5EF4-FFF2-40B4-BE49-F238E27FC236}">
                <a16:creationId xmlns:a16="http://schemas.microsoft.com/office/drawing/2014/main" id="{195F9430-AAF2-D2BA-7B4A-D3AC651A4D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446849"/>
            <a:ext cx="340520" cy="340520"/>
          </a:xfrm>
          <a:prstGeom prst="rect">
            <a:avLst/>
          </a:prstGeom>
        </p:spPr>
      </p:pic>
      <p:sp>
        <p:nvSpPr>
          <p:cNvPr id="17" name="TextBox 16">
            <a:extLst>
              <a:ext uri="{FF2B5EF4-FFF2-40B4-BE49-F238E27FC236}">
                <a16:creationId xmlns:a16="http://schemas.microsoft.com/office/drawing/2014/main" id="{DD9DA8CE-7E41-2C47-A170-A587E29AA2EB}"/>
              </a:ext>
            </a:extLst>
          </p:cNvPr>
          <p:cNvSpPr txBox="1"/>
          <p:nvPr/>
        </p:nvSpPr>
        <p:spPr>
          <a:xfrm>
            <a:off x="890856" y="2468697"/>
            <a:ext cx="3633377" cy="1415772"/>
          </a:xfrm>
          <a:prstGeom prst="rect">
            <a:avLst/>
          </a:prstGeom>
          <a:noFill/>
        </p:spPr>
        <p:txBody>
          <a:bodyPr wrap="square">
            <a:spAutoFit/>
          </a:bodyPr>
          <a:lstStyle/>
          <a:p>
            <a:pPr lvl="3">
              <a:spcAft>
                <a:spcPts val="1200"/>
              </a:spcAft>
            </a:pPr>
            <a:r>
              <a:rPr lang="en-US" dirty="0"/>
              <a:t>Male</a:t>
            </a:r>
          </a:p>
          <a:p>
            <a:pPr lvl="3">
              <a:spcAft>
                <a:spcPts val="1200"/>
              </a:spcAft>
            </a:pPr>
            <a:r>
              <a:rPr lang="en-US" dirty="0"/>
              <a:t>Female</a:t>
            </a:r>
          </a:p>
          <a:p>
            <a:pPr lvl="3">
              <a:spcAft>
                <a:spcPts val="1200"/>
              </a:spcAft>
            </a:pPr>
            <a:r>
              <a:rPr lang="en-US" dirty="0"/>
              <a:t>Other (specify)</a:t>
            </a:r>
          </a:p>
          <a:p>
            <a:pPr lvl="3">
              <a:spcAft>
                <a:spcPts val="1200"/>
              </a:spcAft>
            </a:pPr>
            <a:r>
              <a:rPr lang="en-US" dirty="0"/>
              <a:t>Prefer not to say</a:t>
            </a:r>
          </a:p>
        </p:txBody>
      </p:sp>
      <p:sp>
        <p:nvSpPr>
          <p:cNvPr id="21" name="Rectangle 20">
            <a:extLst>
              <a:ext uri="{FF2B5EF4-FFF2-40B4-BE49-F238E27FC236}">
                <a16:creationId xmlns:a16="http://schemas.microsoft.com/office/drawing/2014/main" id="{97307602-3FCB-89F0-36F0-FD981648ED77}"/>
              </a:ext>
            </a:extLst>
          </p:cNvPr>
          <p:cNvSpPr/>
          <p:nvPr/>
        </p:nvSpPr>
        <p:spPr>
          <a:xfrm>
            <a:off x="710023" y="291501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6160167-1991-1EC3-5099-091CEF485390}"/>
              </a:ext>
            </a:extLst>
          </p:cNvPr>
          <p:cNvSpPr/>
          <p:nvPr/>
        </p:nvSpPr>
        <p:spPr>
          <a:xfrm>
            <a:off x="710023" y="327212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E77DAFE-DE7F-AB61-3A2E-61C5F95E231F}"/>
              </a:ext>
            </a:extLst>
          </p:cNvPr>
          <p:cNvSpPr/>
          <p:nvPr/>
        </p:nvSpPr>
        <p:spPr>
          <a:xfrm>
            <a:off x="710023" y="362924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99;p14">
            <a:extLst>
              <a:ext uri="{FF2B5EF4-FFF2-40B4-BE49-F238E27FC236}">
                <a16:creationId xmlns:a16="http://schemas.microsoft.com/office/drawing/2014/main" id="{9EA859A1-EB45-0032-0D07-A819C6B76E05}"/>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923424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3CCD796-832E-0ECC-7BEC-F5C1B280802D}"/>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93C5A5F2-DA4B-62CB-4B81-B0486A7D5C33}"/>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4" name="Rectangle 3">
            <a:extLst>
              <a:ext uri="{FF2B5EF4-FFF2-40B4-BE49-F238E27FC236}">
                <a16:creationId xmlns:a16="http://schemas.microsoft.com/office/drawing/2014/main" id="{5902A19F-AC35-D369-C4CD-BFD5F806B781}"/>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10FAD08-4A94-DC13-D2D6-022A5A801A7D}"/>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5F7B8E7F-EEC0-9D5A-973F-B7443FFC7A0E}"/>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D630BB1C-879E-6ADC-9A03-022A0D817D8A}"/>
              </a:ext>
            </a:extLst>
          </p:cNvPr>
          <p:cNvSpPr txBox="1"/>
          <p:nvPr/>
        </p:nvSpPr>
        <p:spPr>
          <a:xfrm>
            <a:off x="649356" y="2035328"/>
            <a:ext cx="4891633" cy="738664"/>
          </a:xfrm>
          <a:prstGeom prst="rect">
            <a:avLst/>
          </a:prstGeom>
          <a:noFill/>
        </p:spPr>
        <p:txBody>
          <a:bodyPr wrap="square" rtlCol="0">
            <a:spAutoFit/>
          </a:bodyPr>
          <a:lstStyle/>
          <a:p>
            <a:r>
              <a:rPr lang="en-US" b="1" dirty="0"/>
              <a:t>8. Are you eligible to vote and likely to vote in 2026 mid-term elections?</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3825F0D9-3B36-46B6-0B4D-08D6B432BBDB}"/>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E3552C86-BF5F-E10E-A3A0-0D573C325543}"/>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CCE99FA2-FE74-093F-5C66-CE2349639A9C}"/>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E8CB354-4A96-0FB5-562D-001DE84B1C7B}"/>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C7001202-4FF8-3A2D-146A-59BDA814FC6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C27EF4F-2902-7546-853A-0DD21731D6BF}"/>
              </a:ext>
            </a:extLst>
          </p:cNvPr>
          <p:cNvSpPr txBox="1"/>
          <p:nvPr/>
        </p:nvSpPr>
        <p:spPr>
          <a:xfrm>
            <a:off x="2306684" y="1332204"/>
            <a:ext cx="1524926" cy="307777"/>
          </a:xfrm>
          <a:prstGeom prst="rect">
            <a:avLst/>
          </a:prstGeom>
          <a:noFill/>
        </p:spPr>
        <p:txBody>
          <a:bodyPr wrap="square" rtlCol="0">
            <a:spAutoFit/>
          </a:bodyPr>
          <a:lstStyle/>
          <a:p>
            <a:r>
              <a:rPr lang="en-US" dirty="0"/>
              <a:t>37% Complete</a:t>
            </a:r>
          </a:p>
        </p:txBody>
      </p:sp>
      <p:pic>
        <p:nvPicPr>
          <p:cNvPr id="12" name="Graphic 11" descr="Checkbox Checked outline">
            <a:extLst>
              <a:ext uri="{FF2B5EF4-FFF2-40B4-BE49-F238E27FC236}">
                <a16:creationId xmlns:a16="http://schemas.microsoft.com/office/drawing/2014/main" id="{11B82195-581F-A68A-A6FD-4ED6C7525F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C6FCCE87-9023-690F-4AD8-EFBCCB973C50}"/>
              </a:ext>
            </a:extLst>
          </p:cNvPr>
          <p:cNvSpPr txBox="1"/>
          <p:nvPr/>
        </p:nvSpPr>
        <p:spPr>
          <a:xfrm>
            <a:off x="890856" y="2652945"/>
            <a:ext cx="3633377" cy="1046440"/>
          </a:xfrm>
          <a:prstGeom prst="rect">
            <a:avLst/>
          </a:prstGeom>
          <a:noFill/>
        </p:spPr>
        <p:txBody>
          <a:bodyPr wrap="square">
            <a:spAutoFit/>
          </a:bodyPr>
          <a:lstStyle/>
          <a:p>
            <a:pPr lvl="3">
              <a:spcAft>
                <a:spcPts val="1200"/>
              </a:spcAft>
            </a:pPr>
            <a:r>
              <a:rPr lang="en-US" dirty="0"/>
              <a:t>Yes</a:t>
            </a:r>
          </a:p>
          <a:p>
            <a:pPr lvl="3">
              <a:spcAft>
                <a:spcPts val="1200"/>
              </a:spcAft>
            </a:pPr>
            <a:r>
              <a:rPr lang="en-US" dirty="0"/>
              <a:t>No</a:t>
            </a:r>
          </a:p>
          <a:p>
            <a:pPr lvl="3">
              <a:spcAft>
                <a:spcPts val="1200"/>
              </a:spcAft>
            </a:pPr>
            <a:r>
              <a:rPr lang="en-US" dirty="0"/>
              <a:t>I’m not sure</a:t>
            </a:r>
          </a:p>
        </p:txBody>
      </p:sp>
      <p:sp>
        <p:nvSpPr>
          <p:cNvPr id="21" name="Rectangle 20">
            <a:extLst>
              <a:ext uri="{FF2B5EF4-FFF2-40B4-BE49-F238E27FC236}">
                <a16:creationId xmlns:a16="http://schemas.microsoft.com/office/drawing/2014/main" id="{3B4E1D2D-D0EF-EE95-676A-68429B96AD27}"/>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96F0569-3255-83C0-DE61-114ED1093B0A}"/>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044E00F-C96D-4994-2FA7-0333E537F1D3}"/>
              </a:ext>
            </a:extLst>
          </p:cNvPr>
          <p:cNvSpPr txBox="1"/>
          <p:nvPr/>
        </p:nvSpPr>
        <p:spPr>
          <a:xfrm>
            <a:off x="6011839" y="450675"/>
            <a:ext cx="5470138" cy="2246769"/>
          </a:xfrm>
          <a:prstGeom prst="rect">
            <a:avLst/>
          </a:prstGeom>
          <a:noFill/>
        </p:spPr>
        <p:txBody>
          <a:bodyPr wrap="square" rtlCol="0">
            <a:spAutoFit/>
          </a:bodyPr>
          <a:lstStyle/>
          <a:p>
            <a:r>
              <a:rPr lang="en-US" dirty="0">
                <a:highlight>
                  <a:srgbClr val="FF0000"/>
                </a:highlight>
              </a:rPr>
              <a:t>NOTE TO NICK: the actual question from Conor is:</a:t>
            </a:r>
          </a:p>
          <a:p>
            <a:endParaRPr lang="en-US" dirty="0"/>
          </a:p>
          <a:p>
            <a:r>
              <a:rPr lang="en-US" dirty="0"/>
              <a:t> </a:t>
            </a:r>
          </a:p>
          <a:p>
            <a:r>
              <a:rPr lang="en-US" dirty="0"/>
              <a:t>“Are you eligible to vote and likely to vote in the 2026 midterm elections in Colorado’s fifth congressional district?”</a:t>
            </a:r>
          </a:p>
          <a:p>
            <a:endParaRPr lang="en-US" dirty="0"/>
          </a:p>
          <a:p>
            <a:r>
              <a:rPr lang="en-US" dirty="0"/>
              <a:t>I removed reference to Colorado’s fifth. We can always sort responses by zip code and make that determination. I imagine most people won’t know if they’re in Colorado’s fifth district or not.</a:t>
            </a:r>
          </a:p>
          <a:p>
            <a:pPr marL="285750" indent="-285750">
              <a:buFont typeface="Arial" panose="020B0604020202020204" pitchFamily="34" charset="0"/>
              <a:buChar char="•"/>
            </a:pPr>
            <a:endParaRPr lang="en-US" dirty="0"/>
          </a:p>
        </p:txBody>
      </p:sp>
      <p:sp>
        <p:nvSpPr>
          <p:cNvPr id="9" name="Google Shape;99;p14">
            <a:extLst>
              <a:ext uri="{FF2B5EF4-FFF2-40B4-BE49-F238E27FC236}">
                <a16:creationId xmlns:a16="http://schemas.microsoft.com/office/drawing/2014/main" id="{2FD47319-3042-9EA4-A7D3-9916EAE0D7DA}"/>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266231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8DDC2AC-0F70-EC4E-B728-318CF9FA25C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82364A54-07BB-DA78-256C-297484E72DC2}"/>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4" name="Rectangle 3">
            <a:extLst>
              <a:ext uri="{FF2B5EF4-FFF2-40B4-BE49-F238E27FC236}">
                <a16:creationId xmlns:a16="http://schemas.microsoft.com/office/drawing/2014/main" id="{8233984E-CEDF-73B1-7305-1F1679793ED1}"/>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5191737-6C89-DDDC-A93D-F84E31C34774}"/>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E2B5377F-DEFF-332A-523E-44F1E4C4F7E6}"/>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957B853D-7804-F8A2-2952-003D3375BB4F}"/>
              </a:ext>
            </a:extLst>
          </p:cNvPr>
          <p:cNvSpPr txBox="1"/>
          <p:nvPr/>
        </p:nvSpPr>
        <p:spPr>
          <a:xfrm>
            <a:off x="649356" y="2035328"/>
            <a:ext cx="4891633" cy="523220"/>
          </a:xfrm>
          <a:prstGeom prst="rect">
            <a:avLst/>
          </a:prstGeom>
          <a:noFill/>
        </p:spPr>
        <p:txBody>
          <a:bodyPr wrap="square" rtlCol="0">
            <a:spAutoFit/>
          </a:bodyPr>
          <a:lstStyle/>
          <a:p>
            <a:r>
              <a:rPr lang="en-US" b="1" dirty="0"/>
              <a:t>9. How do you identify politically? </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44B8C966-88F5-1C6C-32D6-78FF43B43E4B}"/>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851191EC-6E85-B67B-57B8-5F5F8F0F8BAC}"/>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B067D31C-AE30-00A6-F983-A91525DE620B}"/>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3E451F7-114F-43C8-3CEE-96C5A21B5EA1}"/>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3C061697-95CC-4489-0192-1C8390D8EE6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3EEEEB7-26A2-2BBD-250E-84A18486AC84}"/>
              </a:ext>
            </a:extLst>
          </p:cNvPr>
          <p:cNvSpPr txBox="1"/>
          <p:nvPr/>
        </p:nvSpPr>
        <p:spPr>
          <a:xfrm>
            <a:off x="2306684" y="1332204"/>
            <a:ext cx="1524926" cy="307777"/>
          </a:xfrm>
          <a:prstGeom prst="rect">
            <a:avLst/>
          </a:prstGeom>
          <a:noFill/>
        </p:spPr>
        <p:txBody>
          <a:bodyPr wrap="square" rtlCol="0">
            <a:spAutoFit/>
          </a:bodyPr>
          <a:lstStyle/>
          <a:p>
            <a:r>
              <a:rPr lang="en-US" dirty="0"/>
              <a:t>42% Complete</a:t>
            </a:r>
          </a:p>
        </p:txBody>
      </p:sp>
      <p:pic>
        <p:nvPicPr>
          <p:cNvPr id="12" name="Graphic 11" descr="Checkbox Checked outline">
            <a:extLst>
              <a:ext uri="{FF2B5EF4-FFF2-40B4-BE49-F238E27FC236}">
                <a16:creationId xmlns:a16="http://schemas.microsoft.com/office/drawing/2014/main" id="{B29B23C6-C524-8531-EF6D-AF125F1B2E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70BF3035-4621-B6F5-7A18-12E794E3CCBE}"/>
              </a:ext>
            </a:extLst>
          </p:cNvPr>
          <p:cNvSpPr txBox="1"/>
          <p:nvPr/>
        </p:nvSpPr>
        <p:spPr>
          <a:xfrm>
            <a:off x="890856" y="2652945"/>
            <a:ext cx="3633377" cy="1046440"/>
          </a:xfrm>
          <a:prstGeom prst="rect">
            <a:avLst/>
          </a:prstGeom>
          <a:noFill/>
        </p:spPr>
        <p:txBody>
          <a:bodyPr wrap="square">
            <a:spAutoFit/>
          </a:bodyPr>
          <a:lstStyle/>
          <a:p>
            <a:pPr lvl="3">
              <a:spcAft>
                <a:spcPts val="1200"/>
              </a:spcAft>
            </a:pPr>
            <a:r>
              <a:rPr lang="en-US" dirty="0"/>
              <a:t>Republican</a:t>
            </a:r>
          </a:p>
          <a:p>
            <a:pPr lvl="3">
              <a:spcAft>
                <a:spcPts val="1200"/>
              </a:spcAft>
            </a:pPr>
            <a:r>
              <a:rPr lang="en-US" dirty="0"/>
              <a:t>Democrat</a:t>
            </a:r>
          </a:p>
          <a:p>
            <a:pPr lvl="3">
              <a:spcAft>
                <a:spcPts val="1200"/>
              </a:spcAft>
            </a:pPr>
            <a:r>
              <a:rPr lang="en-US" dirty="0"/>
              <a:t>Other / Third-Party</a:t>
            </a:r>
          </a:p>
        </p:txBody>
      </p:sp>
      <p:sp>
        <p:nvSpPr>
          <p:cNvPr id="21" name="Rectangle 20">
            <a:extLst>
              <a:ext uri="{FF2B5EF4-FFF2-40B4-BE49-F238E27FC236}">
                <a16:creationId xmlns:a16="http://schemas.microsoft.com/office/drawing/2014/main" id="{3B60070E-91C5-3CC2-6941-6D69897F02AD}"/>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E7E64B8-EEA2-0CA7-A198-6A489B00E498}"/>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99;p14">
            <a:extLst>
              <a:ext uri="{FF2B5EF4-FFF2-40B4-BE49-F238E27FC236}">
                <a16:creationId xmlns:a16="http://schemas.microsoft.com/office/drawing/2014/main" id="{761CD116-2019-E140-7F2C-1C45BE904551}"/>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838118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CD990259-B584-E84B-D3C9-7539983E597E}"/>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6317ECB2-4AB0-D4D7-5005-52A24FC53865}"/>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4" name="Rectangle 3">
            <a:extLst>
              <a:ext uri="{FF2B5EF4-FFF2-40B4-BE49-F238E27FC236}">
                <a16:creationId xmlns:a16="http://schemas.microsoft.com/office/drawing/2014/main" id="{F3025F98-C934-7623-23D6-55C676F9E4B7}"/>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7AD4A0-DE21-D2EF-6FB9-934065D3126C}"/>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451AEBFA-A613-FF68-3C51-0D30380FD477}"/>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AD99A2BA-2A04-79EC-135B-D45FC872381B}"/>
              </a:ext>
            </a:extLst>
          </p:cNvPr>
          <p:cNvSpPr txBox="1"/>
          <p:nvPr/>
        </p:nvSpPr>
        <p:spPr>
          <a:xfrm>
            <a:off x="649356" y="2035328"/>
            <a:ext cx="4891633" cy="738664"/>
          </a:xfrm>
          <a:prstGeom prst="rect">
            <a:avLst/>
          </a:prstGeom>
          <a:noFill/>
        </p:spPr>
        <p:txBody>
          <a:bodyPr wrap="square" rtlCol="0">
            <a:spAutoFit/>
          </a:bodyPr>
          <a:lstStyle/>
          <a:p>
            <a:r>
              <a:rPr lang="en-US" b="1" dirty="0"/>
              <a:t>10. Who did you vote for in the 2016 Presidential election?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5297E248-CD84-6FB8-0164-A874F3C157B6}"/>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07A61EBC-F126-69E7-21A4-AA3B2F3D247F}"/>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535C27FE-5637-4C8A-346F-58E20C79CEC3}"/>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50BCDB8-B012-5271-F7F7-91A769A8F1D7}"/>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402C1E7F-1B8D-B086-3ECB-91FA1E1A04F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8C5117A-FC6C-BF99-88E3-0E790322F835}"/>
              </a:ext>
            </a:extLst>
          </p:cNvPr>
          <p:cNvSpPr txBox="1"/>
          <p:nvPr/>
        </p:nvSpPr>
        <p:spPr>
          <a:xfrm>
            <a:off x="2306684" y="1332204"/>
            <a:ext cx="1524926" cy="307777"/>
          </a:xfrm>
          <a:prstGeom prst="rect">
            <a:avLst/>
          </a:prstGeom>
          <a:noFill/>
        </p:spPr>
        <p:txBody>
          <a:bodyPr wrap="square" rtlCol="0">
            <a:spAutoFit/>
          </a:bodyPr>
          <a:lstStyle/>
          <a:p>
            <a:r>
              <a:rPr lang="en-US" dirty="0"/>
              <a:t>47% Complete</a:t>
            </a:r>
          </a:p>
        </p:txBody>
      </p:sp>
      <p:pic>
        <p:nvPicPr>
          <p:cNvPr id="12" name="Graphic 11" descr="Checkbox Checked outline">
            <a:extLst>
              <a:ext uri="{FF2B5EF4-FFF2-40B4-BE49-F238E27FC236}">
                <a16:creationId xmlns:a16="http://schemas.microsoft.com/office/drawing/2014/main" id="{E9380D5F-B7A0-3807-8ACD-4BAE4A9888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95CAA551-2959-497A-592C-9E890B53D5DE}"/>
              </a:ext>
            </a:extLst>
          </p:cNvPr>
          <p:cNvSpPr txBox="1"/>
          <p:nvPr/>
        </p:nvSpPr>
        <p:spPr>
          <a:xfrm>
            <a:off x="890856" y="2652945"/>
            <a:ext cx="3633377" cy="1415772"/>
          </a:xfrm>
          <a:prstGeom prst="rect">
            <a:avLst/>
          </a:prstGeom>
          <a:noFill/>
        </p:spPr>
        <p:txBody>
          <a:bodyPr wrap="square">
            <a:spAutoFit/>
          </a:bodyPr>
          <a:lstStyle/>
          <a:p>
            <a:pPr lvl="3">
              <a:spcAft>
                <a:spcPts val="1200"/>
              </a:spcAft>
            </a:pPr>
            <a:r>
              <a:rPr lang="en-US" dirty="0"/>
              <a:t>Donald Trump</a:t>
            </a:r>
          </a:p>
          <a:p>
            <a:pPr lvl="3">
              <a:spcAft>
                <a:spcPts val="1200"/>
              </a:spcAft>
            </a:pPr>
            <a:r>
              <a:rPr lang="en-US" dirty="0"/>
              <a:t>Hillary Clinton</a:t>
            </a:r>
          </a:p>
          <a:p>
            <a:pPr lvl="3">
              <a:spcAft>
                <a:spcPts val="1200"/>
              </a:spcAft>
            </a:pPr>
            <a:r>
              <a:rPr lang="en-US" dirty="0"/>
              <a:t>Did not vote</a:t>
            </a:r>
          </a:p>
          <a:p>
            <a:pPr lvl="3">
              <a:spcAft>
                <a:spcPts val="1200"/>
              </a:spcAft>
            </a:pPr>
            <a:r>
              <a:rPr lang="en-US" dirty="0"/>
              <a:t>Other</a:t>
            </a:r>
          </a:p>
        </p:txBody>
      </p:sp>
      <p:sp>
        <p:nvSpPr>
          <p:cNvPr id="21" name="Rectangle 20">
            <a:extLst>
              <a:ext uri="{FF2B5EF4-FFF2-40B4-BE49-F238E27FC236}">
                <a16:creationId xmlns:a16="http://schemas.microsoft.com/office/drawing/2014/main" id="{55BB424C-F550-B021-904C-42F29342C837}"/>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6B168A5-ACC3-C653-666E-FAB22CB24D65}"/>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A487DA-E50A-9E60-FCD0-1DC852EE4451}"/>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867E9165-501F-D7AD-0D40-9BAD16D3C7F6}"/>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210966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C20F2831-6F88-23D6-7ADA-35F5DB82CACC}"/>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E3CB4EF6-30FC-8CA5-8C7B-5CB566DC2B44}"/>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4" name="Rectangle 3">
            <a:extLst>
              <a:ext uri="{FF2B5EF4-FFF2-40B4-BE49-F238E27FC236}">
                <a16:creationId xmlns:a16="http://schemas.microsoft.com/office/drawing/2014/main" id="{7610FFBD-5936-1778-586D-616A671CCD58}"/>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E722570-8CFD-6BA3-E5DE-23C5F0E66D62}"/>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930C283D-ED3F-D665-86CC-2134B26F125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5A601CAB-B3FE-CA97-A4DB-208852D45693}"/>
              </a:ext>
            </a:extLst>
          </p:cNvPr>
          <p:cNvSpPr txBox="1"/>
          <p:nvPr/>
        </p:nvSpPr>
        <p:spPr>
          <a:xfrm>
            <a:off x="649356" y="2035328"/>
            <a:ext cx="4891633" cy="738664"/>
          </a:xfrm>
          <a:prstGeom prst="rect">
            <a:avLst/>
          </a:prstGeom>
          <a:noFill/>
        </p:spPr>
        <p:txBody>
          <a:bodyPr wrap="square" rtlCol="0">
            <a:spAutoFit/>
          </a:bodyPr>
          <a:lstStyle/>
          <a:p>
            <a:r>
              <a:rPr lang="en-US" b="1" dirty="0"/>
              <a:t>11. Who did you vote for in the 2020 presidential election?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9C3D83C3-6547-07B4-50C4-9593A5F37218}"/>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941EAF41-D751-35FD-0EDA-7B81B1E2B491}"/>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8578562-9635-D8B9-823D-63DA6FA3A530}"/>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06CE5B3-6E28-6979-2A39-D308CA17B8F7}"/>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61EDC3AB-DADD-02A2-64DA-4A427381444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16F744E-A9F5-40EB-B8C2-246CA9678A69}"/>
              </a:ext>
            </a:extLst>
          </p:cNvPr>
          <p:cNvSpPr txBox="1"/>
          <p:nvPr/>
        </p:nvSpPr>
        <p:spPr>
          <a:xfrm>
            <a:off x="2306684" y="1332204"/>
            <a:ext cx="1524926" cy="307777"/>
          </a:xfrm>
          <a:prstGeom prst="rect">
            <a:avLst/>
          </a:prstGeom>
          <a:noFill/>
        </p:spPr>
        <p:txBody>
          <a:bodyPr wrap="square" rtlCol="0">
            <a:spAutoFit/>
          </a:bodyPr>
          <a:lstStyle/>
          <a:p>
            <a:r>
              <a:rPr lang="en-US" dirty="0"/>
              <a:t>53% Complete</a:t>
            </a:r>
          </a:p>
        </p:txBody>
      </p:sp>
      <p:pic>
        <p:nvPicPr>
          <p:cNvPr id="12" name="Graphic 11" descr="Checkbox Checked outline">
            <a:extLst>
              <a:ext uri="{FF2B5EF4-FFF2-40B4-BE49-F238E27FC236}">
                <a16:creationId xmlns:a16="http://schemas.microsoft.com/office/drawing/2014/main" id="{00363AB2-F134-6F33-8923-3E2DC04F931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1C739D41-071E-2969-9546-E8B432DBAA42}"/>
              </a:ext>
            </a:extLst>
          </p:cNvPr>
          <p:cNvSpPr txBox="1"/>
          <p:nvPr/>
        </p:nvSpPr>
        <p:spPr>
          <a:xfrm>
            <a:off x="890856" y="2652945"/>
            <a:ext cx="3633377" cy="1415772"/>
          </a:xfrm>
          <a:prstGeom prst="rect">
            <a:avLst/>
          </a:prstGeom>
          <a:noFill/>
        </p:spPr>
        <p:txBody>
          <a:bodyPr wrap="square">
            <a:spAutoFit/>
          </a:bodyPr>
          <a:lstStyle/>
          <a:p>
            <a:pPr lvl="3">
              <a:spcAft>
                <a:spcPts val="1200"/>
              </a:spcAft>
            </a:pPr>
            <a:r>
              <a:rPr lang="en-US" dirty="0"/>
              <a:t>Donald Trump</a:t>
            </a:r>
          </a:p>
          <a:p>
            <a:pPr lvl="3">
              <a:spcAft>
                <a:spcPts val="1200"/>
              </a:spcAft>
            </a:pPr>
            <a:r>
              <a:rPr lang="en-US" dirty="0"/>
              <a:t>Joe Biden</a:t>
            </a:r>
          </a:p>
          <a:p>
            <a:pPr lvl="3">
              <a:spcAft>
                <a:spcPts val="1200"/>
              </a:spcAft>
            </a:pPr>
            <a:r>
              <a:rPr lang="en-US" dirty="0"/>
              <a:t>Did not vote</a:t>
            </a:r>
          </a:p>
          <a:p>
            <a:pPr lvl="3">
              <a:spcAft>
                <a:spcPts val="1200"/>
              </a:spcAft>
            </a:pPr>
            <a:r>
              <a:rPr lang="en-US" dirty="0"/>
              <a:t>Other</a:t>
            </a:r>
          </a:p>
        </p:txBody>
      </p:sp>
      <p:sp>
        <p:nvSpPr>
          <p:cNvPr id="21" name="Rectangle 20">
            <a:extLst>
              <a:ext uri="{FF2B5EF4-FFF2-40B4-BE49-F238E27FC236}">
                <a16:creationId xmlns:a16="http://schemas.microsoft.com/office/drawing/2014/main" id="{202219C5-DC08-98AA-05AF-185A7A703351}"/>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53D3DB9-2851-9401-B713-ECF54A56D131}"/>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32FB1B-50D7-5B0D-AC20-8A621F3B9591}"/>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4C3C3E66-D364-E921-E774-D3922A9FA84E}"/>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64173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E0DAE610-07B7-1D50-B7C3-1120850F6D43}"/>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A994F168-80E5-A7FC-E017-FB5772F7C7F2}"/>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4" name="Rectangle 3">
            <a:extLst>
              <a:ext uri="{FF2B5EF4-FFF2-40B4-BE49-F238E27FC236}">
                <a16:creationId xmlns:a16="http://schemas.microsoft.com/office/drawing/2014/main" id="{178199C2-4B6D-4CEB-7030-15C59AE70E8B}"/>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7E0CC8-3063-BC03-B29E-AB67C0F5F02E}"/>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9DC46354-830A-FE19-4FE9-E07D351C7DE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3FE5C363-E5EE-FC11-8914-2174654D57F5}"/>
              </a:ext>
            </a:extLst>
          </p:cNvPr>
          <p:cNvSpPr txBox="1"/>
          <p:nvPr/>
        </p:nvSpPr>
        <p:spPr>
          <a:xfrm>
            <a:off x="649356" y="2035328"/>
            <a:ext cx="4891633" cy="738664"/>
          </a:xfrm>
          <a:prstGeom prst="rect">
            <a:avLst/>
          </a:prstGeom>
          <a:noFill/>
        </p:spPr>
        <p:txBody>
          <a:bodyPr wrap="square" rtlCol="0">
            <a:spAutoFit/>
          </a:bodyPr>
          <a:lstStyle/>
          <a:p>
            <a:r>
              <a:rPr lang="en-US" b="1" dirty="0"/>
              <a:t>12. Who did you vote for in the 2024 presidential election?</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E260D4CB-BAC8-C16F-1DA9-4CE3D47574DC}"/>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B6EBD226-0CB8-CE30-71FD-83D2C65BC4AC}"/>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E4DCDFE7-AF29-4F99-1400-CE78B734C11B}"/>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D71D2B9-59EB-8564-CE02-CE68138DA9A6}"/>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2591DD10-5966-FBF2-4BA3-6C9A9DA33D7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8BEA3DC-DDD6-2C98-9F3B-FDDFC6A14A3C}"/>
              </a:ext>
            </a:extLst>
          </p:cNvPr>
          <p:cNvSpPr txBox="1"/>
          <p:nvPr/>
        </p:nvSpPr>
        <p:spPr>
          <a:xfrm>
            <a:off x="2306684" y="1332204"/>
            <a:ext cx="1524926" cy="307777"/>
          </a:xfrm>
          <a:prstGeom prst="rect">
            <a:avLst/>
          </a:prstGeom>
          <a:noFill/>
        </p:spPr>
        <p:txBody>
          <a:bodyPr wrap="square" rtlCol="0">
            <a:spAutoFit/>
          </a:bodyPr>
          <a:lstStyle/>
          <a:p>
            <a:r>
              <a:rPr lang="en-US" dirty="0"/>
              <a:t>58% Complete</a:t>
            </a:r>
          </a:p>
        </p:txBody>
      </p:sp>
      <p:pic>
        <p:nvPicPr>
          <p:cNvPr id="12" name="Graphic 11" descr="Checkbox Checked outline">
            <a:extLst>
              <a:ext uri="{FF2B5EF4-FFF2-40B4-BE49-F238E27FC236}">
                <a16:creationId xmlns:a16="http://schemas.microsoft.com/office/drawing/2014/main" id="{11D1E3B8-5247-6275-9F28-8C31DDD428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71871C75-4CD5-695D-9D69-D81184F8400B}"/>
              </a:ext>
            </a:extLst>
          </p:cNvPr>
          <p:cNvSpPr txBox="1"/>
          <p:nvPr/>
        </p:nvSpPr>
        <p:spPr>
          <a:xfrm>
            <a:off x="890856" y="2652945"/>
            <a:ext cx="3633377" cy="1415772"/>
          </a:xfrm>
          <a:prstGeom prst="rect">
            <a:avLst/>
          </a:prstGeom>
          <a:noFill/>
        </p:spPr>
        <p:txBody>
          <a:bodyPr wrap="square">
            <a:spAutoFit/>
          </a:bodyPr>
          <a:lstStyle/>
          <a:p>
            <a:pPr lvl="3">
              <a:spcAft>
                <a:spcPts val="1200"/>
              </a:spcAft>
            </a:pPr>
            <a:r>
              <a:rPr lang="en-US" dirty="0"/>
              <a:t>Donald Trump</a:t>
            </a:r>
          </a:p>
          <a:p>
            <a:pPr lvl="3">
              <a:spcAft>
                <a:spcPts val="1200"/>
              </a:spcAft>
            </a:pPr>
            <a:r>
              <a:rPr lang="en-US" dirty="0"/>
              <a:t>Kamala Harris</a:t>
            </a:r>
          </a:p>
          <a:p>
            <a:pPr lvl="3">
              <a:spcAft>
                <a:spcPts val="1200"/>
              </a:spcAft>
            </a:pPr>
            <a:r>
              <a:rPr lang="en-US" dirty="0"/>
              <a:t>Did not vote</a:t>
            </a:r>
          </a:p>
          <a:p>
            <a:pPr lvl="3">
              <a:spcAft>
                <a:spcPts val="1200"/>
              </a:spcAft>
            </a:pPr>
            <a:r>
              <a:rPr lang="en-US" dirty="0"/>
              <a:t>Other</a:t>
            </a:r>
          </a:p>
        </p:txBody>
      </p:sp>
      <p:sp>
        <p:nvSpPr>
          <p:cNvPr id="21" name="Rectangle 20">
            <a:extLst>
              <a:ext uri="{FF2B5EF4-FFF2-40B4-BE49-F238E27FC236}">
                <a16:creationId xmlns:a16="http://schemas.microsoft.com/office/drawing/2014/main" id="{87E32748-B858-8D3C-418A-25285EB3943F}"/>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4BC1783-8969-46FC-A619-2CE5AB5B2F49}"/>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989738-E625-BC84-C45B-6481CEDB21BD}"/>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99;p14">
            <a:extLst>
              <a:ext uri="{FF2B5EF4-FFF2-40B4-BE49-F238E27FC236}">
                <a16:creationId xmlns:a16="http://schemas.microsoft.com/office/drawing/2014/main" id="{E787A44D-2235-A70C-B0D1-ABF2456E40C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017417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25C2745-B0EE-75B0-A13A-E52697A9469B}"/>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DF6B94C6-3E8F-5495-657D-1D1FD90D9ACA}"/>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4" name="Rectangle 3">
            <a:extLst>
              <a:ext uri="{FF2B5EF4-FFF2-40B4-BE49-F238E27FC236}">
                <a16:creationId xmlns:a16="http://schemas.microsoft.com/office/drawing/2014/main" id="{37009ECE-6BF0-360D-6AC1-5A4F43252513}"/>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DAC4D2-63F5-FD96-3138-2F1432D52AD2}"/>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C39BD749-8CB8-C9E3-EDF2-F97AD25D6D83}"/>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1D1B405A-302F-42FB-FD5A-31578F59F7E5}"/>
              </a:ext>
            </a:extLst>
          </p:cNvPr>
          <p:cNvSpPr txBox="1"/>
          <p:nvPr/>
        </p:nvSpPr>
        <p:spPr>
          <a:xfrm>
            <a:off x="649356" y="2035328"/>
            <a:ext cx="4891633" cy="738664"/>
          </a:xfrm>
          <a:prstGeom prst="rect">
            <a:avLst/>
          </a:prstGeom>
          <a:noFill/>
        </p:spPr>
        <p:txBody>
          <a:bodyPr wrap="square" rtlCol="0">
            <a:spAutoFit/>
          </a:bodyPr>
          <a:lstStyle/>
          <a:p>
            <a:r>
              <a:rPr lang="en-US" b="1" dirty="0"/>
              <a:t>13. How would you rate your view of the job Donald Trump is doing as president?</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B82EEA9C-C13E-C182-A154-9049E957A39E}"/>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E4CA6704-200F-1D98-47EB-CE684DBF2ADE}"/>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2A2B6D8-9CFF-E0AE-7137-BF0ADDA7084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76AFE4F-9D0D-F87D-A121-6F1144F31D2A}"/>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5285F79D-7A2A-4512-40FE-E084E4FA692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9E2BEEC-CE7B-158F-F6A0-5DD56DFC972E}"/>
              </a:ext>
            </a:extLst>
          </p:cNvPr>
          <p:cNvSpPr txBox="1"/>
          <p:nvPr/>
        </p:nvSpPr>
        <p:spPr>
          <a:xfrm>
            <a:off x="2306684" y="1332204"/>
            <a:ext cx="1524926" cy="307777"/>
          </a:xfrm>
          <a:prstGeom prst="rect">
            <a:avLst/>
          </a:prstGeom>
          <a:noFill/>
        </p:spPr>
        <p:txBody>
          <a:bodyPr wrap="square" rtlCol="0">
            <a:spAutoFit/>
          </a:bodyPr>
          <a:lstStyle/>
          <a:p>
            <a:r>
              <a:rPr lang="en-US" dirty="0"/>
              <a:t>63% Complete</a:t>
            </a:r>
          </a:p>
        </p:txBody>
      </p:sp>
      <p:pic>
        <p:nvPicPr>
          <p:cNvPr id="12" name="Graphic 11" descr="Checkbox Checked outline">
            <a:extLst>
              <a:ext uri="{FF2B5EF4-FFF2-40B4-BE49-F238E27FC236}">
                <a16:creationId xmlns:a16="http://schemas.microsoft.com/office/drawing/2014/main" id="{1EF9EAC2-30B8-F9BC-BD2F-CDC8CA0DC5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631097"/>
            <a:ext cx="340520" cy="340520"/>
          </a:xfrm>
          <a:prstGeom prst="rect">
            <a:avLst/>
          </a:prstGeom>
        </p:spPr>
      </p:pic>
      <p:sp>
        <p:nvSpPr>
          <p:cNvPr id="17" name="TextBox 16">
            <a:extLst>
              <a:ext uri="{FF2B5EF4-FFF2-40B4-BE49-F238E27FC236}">
                <a16:creationId xmlns:a16="http://schemas.microsoft.com/office/drawing/2014/main" id="{8B8D5585-31B0-1827-255E-0A17A9DD180C}"/>
              </a:ext>
            </a:extLst>
          </p:cNvPr>
          <p:cNvSpPr txBox="1"/>
          <p:nvPr/>
        </p:nvSpPr>
        <p:spPr>
          <a:xfrm>
            <a:off x="890856" y="2652945"/>
            <a:ext cx="3633377" cy="1785104"/>
          </a:xfrm>
          <a:prstGeom prst="rect">
            <a:avLst/>
          </a:prstGeom>
          <a:noFill/>
        </p:spPr>
        <p:txBody>
          <a:bodyPr wrap="square">
            <a:spAutoFit/>
          </a:bodyPr>
          <a:lstStyle/>
          <a:p>
            <a:pPr lvl="3">
              <a:spcAft>
                <a:spcPts val="1200"/>
              </a:spcAft>
            </a:pPr>
            <a:r>
              <a:rPr lang="en-US" dirty="0"/>
              <a:t>Strongly approve</a:t>
            </a:r>
          </a:p>
          <a:p>
            <a:pPr lvl="3">
              <a:spcAft>
                <a:spcPts val="1200"/>
              </a:spcAft>
            </a:pPr>
            <a:r>
              <a:rPr lang="en-US" dirty="0"/>
              <a:t>Somewhat approve</a:t>
            </a:r>
          </a:p>
          <a:p>
            <a:pPr lvl="3">
              <a:spcAft>
                <a:spcPts val="1200"/>
              </a:spcAft>
            </a:pPr>
            <a:r>
              <a:rPr lang="en-US" dirty="0"/>
              <a:t>Neutral</a:t>
            </a:r>
          </a:p>
          <a:p>
            <a:pPr lvl="3">
              <a:spcAft>
                <a:spcPts val="1200"/>
              </a:spcAft>
            </a:pPr>
            <a:r>
              <a:rPr lang="en-US" dirty="0"/>
              <a:t>Somewhat disapprove</a:t>
            </a:r>
          </a:p>
          <a:p>
            <a:pPr lvl="3">
              <a:spcAft>
                <a:spcPts val="1200"/>
              </a:spcAft>
            </a:pPr>
            <a:r>
              <a:rPr lang="en-US" dirty="0"/>
              <a:t>Strongly disapprove</a:t>
            </a:r>
          </a:p>
        </p:txBody>
      </p:sp>
      <p:sp>
        <p:nvSpPr>
          <p:cNvPr id="21" name="Rectangle 20">
            <a:extLst>
              <a:ext uri="{FF2B5EF4-FFF2-40B4-BE49-F238E27FC236}">
                <a16:creationId xmlns:a16="http://schemas.microsoft.com/office/drawing/2014/main" id="{088B142A-F58D-B03B-99A9-642CBB97E798}"/>
              </a:ext>
            </a:extLst>
          </p:cNvPr>
          <p:cNvSpPr/>
          <p:nvPr/>
        </p:nvSpPr>
        <p:spPr>
          <a:xfrm>
            <a:off x="710023" y="3099258"/>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8921656-A159-8BC0-031C-4D0FD8016BE6}"/>
              </a:ext>
            </a:extLst>
          </p:cNvPr>
          <p:cNvSpPr/>
          <p:nvPr/>
        </p:nvSpPr>
        <p:spPr>
          <a:xfrm>
            <a:off x="710023" y="3456377"/>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857DDCC-64FF-A06E-62C7-E9B09E07E3BE}"/>
              </a:ext>
            </a:extLst>
          </p:cNvPr>
          <p:cNvSpPr/>
          <p:nvPr/>
        </p:nvSpPr>
        <p:spPr>
          <a:xfrm>
            <a:off x="710023" y="379033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6519CF6-775A-DB93-DB58-0D59520B54F2}"/>
              </a:ext>
            </a:extLst>
          </p:cNvPr>
          <p:cNvSpPr/>
          <p:nvPr/>
        </p:nvSpPr>
        <p:spPr>
          <a:xfrm>
            <a:off x="704789" y="4178772"/>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99;p14">
            <a:extLst>
              <a:ext uri="{FF2B5EF4-FFF2-40B4-BE49-F238E27FC236}">
                <a16:creationId xmlns:a16="http://schemas.microsoft.com/office/drawing/2014/main" id="{77C4C4E7-6D1E-1B17-9E71-B297BAF86513}"/>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3179100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9E78763B-13C4-2B61-11B7-4E72272EF6D0}"/>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71B22961-979D-0E01-413C-15810AB8DFC7}"/>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4" name="Rectangle 3">
            <a:extLst>
              <a:ext uri="{FF2B5EF4-FFF2-40B4-BE49-F238E27FC236}">
                <a16:creationId xmlns:a16="http://schemas.microsoft.com/office/drawing/2014/main" id="{5D88CD5E-5C8C-6CA9-8105-BE9579A50C99}"/>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395580A-91CB-6C7E-BC3F-C18DABA62504}"/>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8B3FD169-F91E-0C7C-5F33-769931B58C92}"/>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70E0D6CA-DF45-1E9E-46D4-2B3B2FB6DE01}"/>
              </a:ext>
            </a:extLst>
          </p:cNvPr>
          <p:cNvSpPr txBox="1"/>
          <p:nvPr/>
        </p:nvSpPr>
        <p:spPr>
          <a:xfrm>
            <a:off x="649356" y="1905672"/>
            <a:ext cx="4891633" cy="738664"/>
          </a:xfrm>
          <a:prstGeom prst="rect">
            <a:avLst/>
          </a:prstGeom>
          <a:noFill/>
        </p:spPr>
        <p:txBody>
          <a:bodyPr wrap="square" rtlCol="0">
            <a:spAutoFit/>
          </a:bodyPr>
          <a:lstStyle/>
          <a:p>
            <a:r>
              <a:rPr lang="en-US" b="1" dirty="0"/>
              <a:t>14. Briefly explain the main reasons for your performance rating of Donald Trump in </a:t>
            </a:r>
            <a:r>
              <a:rPr lang="en-US" b="1"/>
              <a:t>Question 1</a:t>
            </a:r>
            <a:r>
              <a:rPr lang="en-US" b="1" dirty="0"/>
              <a:t>3</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4927A34D-5141-ABF7-050C-D24A9DF46442}"/>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D2D16A1C-E59F-7447-8947-BEC814C59CE8}"/>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9CC4A26E-3554-02AA-C51D-7211C4AD283F}"/>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C5FB80E-8B6D-B782-60B9-BDB9193EC02E}"/>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85E256F2-DF4B-D172-8BF6-B966C185792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6BE38E5-53E9-3917-B530-83450E5C3EF3}"/>
              </a:ext>
            </a:extLst>
          </p:cNvPr>
          <p:cNvSpPr txBox="1"/>
          <p:nvPr/>
        </p:nvSpPr>
        <p:spPr>
          <a:xfrm>
            <a:off x="2306683" y="1332204"/>
            <a:ext cx="1391859" cy="307777"/>
          </a:xfrm>
          <a:prstGeom prst="rect">
            <a:avLst/>
          </a:prstGeom>
          <a:noFill/>
        </p:spPr>
        <p:txBody>
          <a:bodyPr wrap="square" rtlCol="0">
            <a:spAutoFit/>
          </a:bodyPr>
          <a:lstStyle/>
          <a:p>
            <a:r>
              <a:rPr lang="en-US" dirty="0"/>
              <a:t>68% Complete</a:t>
            </a:r>
          </a:p>
        </p:txBody>
      </p:sp>
      <p:sp>
        <p:nvSpPr>
          <p:cNvPr id="11" name="Rectangle: Rounded Corners 10">
            <a:extLst>
              <a:ext uri="{FF2B5EF4-FFF2-40B4-BE49-F238E27FC236}">
                <a16:creationId xmlns:a16="http://schemas.microsoft.com/office/drawing/2014/main" id="{E8CEB1DA-7241-7783-2C49-DEDD58BA2C91}"/>
              </a:ext>
            </a:extLst>
          </p:cNvPr>
          <p:cNvSpPr/>
          <p:nvPr/>
        </p:nvSpPr>
        <p:spPr>
          <a:xfrm>
            <a:off x="757451" y="2571365"/>
            <a:ext cx="3835020" cy="1331891"/>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A42EB447-4386-D6C5-4E3F-66D2C4AF54C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0189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B6F24C2-EF46-3A0F-48FC-FEEC6860171E}"/>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BBBDE1BE-6295-F4BD-2751-B565DA22382C}"/>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
        <p:nvSpPr>
          <p:cNvPr id="4" name="Rectangle 3">
            <a:extLst>
              <a:ext uri="{FF2B5EF4-FFF2-40B4-BE49-F238E27FC236}">
                <a16:creationId xmlns:a16="http://schemas.microsoft.com/office/drawing/2014/main" id="{79FB1048-EE9E-78FC-5832-5C862B54C87E}"/>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1507E52-F8FD-867D-ADC9-A6A507EE3E2A}"/>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FACE0A14-400B-5110-C448-D25BB21E1B7E}"/>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3F5166FC-0C39-2D61-0A2E-E95DC3A254B3}"/>
              </a:ext>
            </a:extLst>
          </p:cNvPr>
          <p:cNvSpPr txBox="1"/>
          <p:nvPr/>
        </p:nvSpPr>
        <p:spPr>
          <a:xfrm>
            <a:off x="649356" y="2035328"/>
            <a:ext cx="4891633" cy="523220"/>
          </a:xfrm>
          <a:prstGeom prst="rect">
            <a:avLst/>
          </a:prstGeom>
          <a:noFill/>
        </p:spPr>
        <p:txBody>
          <a:bodyPr wrap="square" rtlCol="0">
            <a:spAutoFit/>
          </a:bodyPr>
          <a:lstStyle/>
          <a:p>
            <a:r>
              <a:rPr lang="en-US" b="1" dirty="0"/>
              <a:t>15. Where do you get your health insurance?</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8C209FC4-3EBD-4AA6-C1F6-F06B57050DDD}"/>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CF377543-84B2-C3B0-EAE5-98D918BFD0C9}"/>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55D1B58D-2912-285E-6A67-539D16504FAE}"/>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1F95223-86F1-9BB8-35F3-096FA73A9ACD}"/>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B1BB7EC1-9CB3-20E2-B870-0D7D10C5E05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15EEAEC-1817-2CF2-6F73-A0067CFB5255}"/>
              </a:ext>
            </a:extLst>
          </p:cNvPr>
          <p:cNvSpPr txBox="1"/>
          <p:nvPr/>
        </p:nvSpPr>
        <p:spPr>
          <a:xfrm>
            <a:off x="2306684" y="1332204"/>
            <a:ext cx="1524926" cy="307777"/>
          </a:xfrm>
          <a:prstGeom prst="rect">
            <a:avLst/>
          </a:prstGeom>
          <a:noFill/>
        </p:spPr>
        <p:txBody>
          <a:bodyPr wrap="square" rtlCol="0">
            <a:spAutoFit/>
          </a:bodyPr>
          <a:lstStyle/>
          <a:p>
            <a:r>
              <a:rPr lang="en-US" dirty="0"/>
              <a:t>74% Complete</a:t>
            </a:r>
          </a:p>
        </p:txBody>
      </p:sp>
      <p:pic>
        <p:nvPicPr>
          <p:cNvPr id="12" name="Graphic 11" descr="Checkbox Checked outline">
            <a:extLst>
              <a:ext uri="{FF2B5EF4-FFF2-40B4-BE49-F238E27FC236}">
                <a16:creationId xmlns:a16="http://schemas.microsoft.com/office/drawing/2014/main" id="{8E7D0A86-351C-7CAA-7B8A-DF641477AF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870" y="2515089"/>
            <a:ext cx="340520" cy="340520"/>
          </a:xfrm>
          <a:prstGeom prst="rect">
            <a:avLst/>
          </a:prstGeom>
        </p:spPr>
      </p:pic>
      <p:sp>
        <p:nvSpPr>
          <p:cNvPr id="17" name="TextBox 16">
            <a:extLst>
              <a:ext uri="{FF2B5EF4-FFF2-40B4-BE49-F238E27FC236}">
                <a16:creationId xmlns:a16="http://schemas.microsoft.com/office/drawing/2014/main" id="{FF616C63-099C-E34D-2C2D-48858EB42371}"/>
              </a:ext>
            </a:extLst>
          </p:cNvPr>
          <p:cNvSpPr txBox="1"/>
          <p:nvPr/>
        </p:nvSpPr>
        <p:spPr>
          <a:xfrm>
            <a:off x="890856" y="2536937"/>
            <a:ext cx="4650133" cy="2154436"/>
          </a:xfrm>
          <a:prstGeom prst="rect">
            <a:avLst/>
          </a:prstGeom>
          <a:noFill/>
        </p:spPr>
        <p:txBody>
          <a:bodyPr wrap="square">
            <a:spAutoFit/>
          </a:bodyPr>
          <a:lstStyle/>
          <a:p>
            <a:pPr lvl="3">
              <a:spcAft>
                <a:spcPts val="1200"/>
              </a:spcAft>
            </a:pPr>
            <a:r>
              <a:rPr lang="en-US" dirty="0"/>
              <a:t>Employer sponsored (your job or family member’s job)</a:t>
            </a:r>
          </a:p>
          <a:p>
            <a:pPr lvl="3">
              <a:spcAft>
                <a:spcPts val="1200"/>
              </a:spcAft>
            </a:pPr>
            <a:r>
              <a:rPr lang="en-US" dirty="0"/>
              <a:t>Medicaid</a:t>
            </a:r>
          </a:p>
          <a:p>
            <a:pPr lvl="3">
              <a:spcAft>
                <a:spcPts val="1200"/>
              </a:spcAft>
            </a:pPr>
            <a:r>
              <a:rPr lang="en-US" dirty="0"/>
              <a:t>Medicare</a:t>
            </a:r>
          </a:p>
          <a:p>
            <a:pPr lvl="3">
              <a:spcAft>
                <a:spcPts val="1200"/>
              </a:spcAft>
            </a:pPr>
            <a:r>
              <a:rPr lang="en-US" dirty="0"/>
              <a:t>ACA marketplace / individual marketplace</a:t>
            </a:r>
          </a:p>
          <a:p>
            <a:pPr lvl="3">
              <a:spcAft>
                <a:spcPts val="1200"/>
              </a:spcAft>
            </a:pPr>
            <a:r>
              <a:rPr lang="en-US" dirty="0"/>
              <a:t>Military (VA or TRICARE)</a:t>
            </a:r>
          </a:p>
          <a:p>
            <a:pPr lvl="3">
              <a:spcAft>
                <a:spcPts val="1200"/>
              </a:spcAft>
            </a:pPr>
            <a:r>
              <a:rPr lang="en-US" dirty="0"/>
              <a:t>Uninsured</a:t>
            </a:r>
          </a:p>
        </p:txBody>
      </p:sp>
      <p:sp>
        <p:nvSpPr>
          <p:cNvPr id="21" name="Rectangle 20">
            <a:extLst>
              <a:ext uri="{FF2B5EF4-FFF2-40B4-BE49-F238E27FC236}">
                <a16:creationId xmlns:a16="http://schemas.microsoft.com/office/drawing/2014/main" id="{B89AFDD5-FAC7-4C40-FEE1-487B82A742BE}"/>
              </a:ext>
            </a:extLst>
          </p:cNvPr>
          <p:cNvSpPr/>
          <p:nvPr/>
        </p:nvSpPr>
        <p:spPr>
          <a:xfrm>
            <a:off x="710023" y="2983250"/>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09362F-D9EE-B9DF-08E7-5D5DF707866D}"/>
              </a:ext>
            </a:extLst>
          </p:cNvPr>
          <p:cNvSpPr/>
          <p:nvPr/>
        </p:nvSpPr>
        <p:spPr>
          <a:xfrm>
            <a:off x="710023" y="3340369"/>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EF3FDC4-F09A-53B7-5BA7-53C125236867}"/>
              </a:ext>
            </a:extLst>
          </p:cNvPr>
          <p:cNvSpPr/>
          <p:nvPr/>
        </p:nvSpPr>
        <p:spPr>
          <a:xfrm>
            <a:off x="710023" y="3674322"/>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C12B6F-537F-61BA-FFBE-C5DB177F07D3}"/>
              </a:ext>
            </a:extLst>
          </p:cNvPr>
          <p:cNvSpPr/>
          <p:nvPr/>
        </p:nvSpPr>
        <p:spPr>
          <a:xfrm>
            <a:off x="704789" y="4062764"/>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4EC9B5C-EC7E-8B87-50B6-84620061A8CD}"/>
              </a:ext>
            </a:extLst>
          </p:cNvPr>
          <p:cNvSpPr/>
          <p:nvPr/>
        </p:nvSpPr>
        <p:spPr>
          <a:xfrm>
            <a:off x="701154" y="4419883"/>
            <a:ext cx="167185" cy="169375"/>
          </a:xfrm>
          <a:prstGeom prst="rect">
            <a:avLst/>
          </a:prstGeom>
          <a:noFill/>
          <a:ln w="3175">
            <a:solidFill>
              <a:schemeClr val="bg1">
                <a:lumMod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oogle Shape;99;p14">
            <a:extLst>
              <a:ext uri="{FF2B5EF4-FFF2-40B4-BE49-F238E27FC236}">
                <a16:creationId xmlns:a16="http://schemas.microsoft.com/office/drawing/2014/main" id="{494CB51A-2988-77B3-E521-9FE1BC51E082}"/>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53505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B210C4BC-F477-D818-EDC8-AA2BDB2EB852}"/>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6986103E-80EF-CD35-2D2F-352D556A0305}"/>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
        <p:nvSpPr>
          <p:cNvPr id="4" name="Rectangle 3">
            <a:extLst>
              <a:ext uri="{FF2B5EF4-FFF2-40B4-BE49-F238E27FC236}">
                <a16:creationId xmlns:a16="http://schemas.microsoft.com/office/drawing/2014/main" id="{C034F145-A20E-7CED-916B-2E5EF54AAA9F}"/>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4B140E6-FEAD-B739-1819-32338A9B99BA}"/>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5B058AC7-3E56-A4E1-8F38-EBF3E03530C1}"/>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A905DC29-304B-ADB3-BED6-40543463F249}"/>
              </a:ext>
            </a:extLst>
          </p:cNvPr>
          <p:cNvSpPr txBox="1"/>
          <p:nvPr/>
        </p:nvSpPr>
        <p:spPr>
          <a:xfrm>
            <a:off x="649356" y="1905672"/>
            <a:ext cx="4891633" cy="523220"/>
          </a:xfrm>
          <a:prstGeom prst="rect">
            <a:avLst/>
          </a:prstGeom>
          <a:noFill/>
        </p:spPr>
        <p:txBody>
          <a:bodyPr wrap="square" rtlCol="0">
            <a:spAutoFit/>
          </a:bodyPr>
          <a:lstStyle/>
          <a:p>
            <a:r>
              <a:rPr lang="en-US" b="1" dirty="0"/>
              <a:t>16. Briefly describe your view of Rep. Jeff Crank</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CA0A1FBF-2C17-FB68-D894-E31B5E3BD337}"/>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AC650575-EA7A-D3BE-5A07-C2C50BBB8DFE}"/>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2383D774-3AD6-E5AC-4207-82A55413DE4C}"/>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3CE7579-97EE-6CCA-1D84-6FF0B17955D6}"/>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7C047BA-AEFD-6D90-6720-581B6BBC895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DEDDD62-DFB1-EAF3-B2C7-EC4F2A1B5FFB}"/>
              </a:ext>
            </a:extLst>
          </p:cNvPr>
          <p:cNvSpPr txBox="1"/>
          <p:nvPr/>
        </p:nvSpPr>
        <p:spPr>
          <a:xfrm>
            <a:off x="2306684" y="1332204"/>
            <a:ext cx="1460098" cy="307777"/>
          </a:xfrm>
          <a:prstGeom prst="rect">
            <a:avLst/>
          </a:prstGeom>
          <a:noFill/>
        </p:spPr>
        <p:txBody>
          <a:bodyPr wrap="square" rtlCol="0">
            <a:spAutoFit/>
          </a:bodyPr>
          <a:lstStyle/>
          <a:p>
            <a:r>
              <a:rPr lang="en-US" dirty="0"/>
              <a:t>79% Complete</a:t>
            </a:r>
          </a:p>
        </p:txBody>
      </p:sp>
      <p:sp>
        <p:nvSpPr>
          <p:cNvPr id="11" name="Rectangle: Rounded Corners 10">
            <a:extLst>
              <a:ext uri="{FF2B5EF4-FFF2-40B4-BE49-F238E27FC236}">
                <a16:creationId xmlns:a16="http://schemas.microsoft.com/office/drawing/2014/main" id="{028A3790-ABC8-095D-F19E-B390DBEC35D1}"/>
              </a:ext>
            </a:extLst>
          </p:cNvPr>
          <p:cNvSpPr/>
          <p:nvPr/>
        </p:nvSpPr>
        <p:spPr>
          <a:xfrm>
            <a:off x="784747" y="2334039"/>
            <a:ext cx="3835020" cy="1289441"/>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5C8DC9A3-4B26-6A8E-4503-0396EC63EE9E}"/>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75834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1D27BA15-B616-679F-41DF-18348E5D7C79}"/>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C5C83056-19A8-AFF0-6227-4EDF132FCE08}"/>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4" name="Rectangle 3">
            <a:extLst>
              <a:ext uri="{FF2B5EF4-FFF2-40B4-BE49-F238E27FC236}">
                <a16:creationId xmlns:a16="http://schemas.microsoft.com/office/drawing/2014/main" id="{B07640F3-FDD0-F101-E3F9-279A46F95ACC}"/>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E9A91C6-44D7-3537-9F85-830F432C4CF6}"/>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7CC8478F-0BE7-3958-E772-074246CF49F2}"/>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73DD8BA2-BD3D-29D9-980E-6CE2A8E85DAE}"/>
              </a:ext>
            </a:extLst>
          </p:cNvPr>
          <p:cNvSpPr txBox="1"/>
          <p:nvPr/>
        </p:nvSpPr>
        <p:spPr>
          <a:xfrm>
            <a:off x="649356" y="1905672"/>
            <a:ext cx="4891633" cy="1384995"/>
          </a:xfrm>
          <a:prstGeom prst="rect">
            <a:avLst/>
          </a:prstGeom>
          <a:noFill/>
        </p:spPr>
        <p:txBody>
          <a:bodyPr wrap="square" rtlCol="0">
            <a:spAutoFit/>
          </a:bodyPr>
          <a:lstStyle/>
          <a:p>
            <a:r>
              <a:rPr lang="en-US" b="1" dirty="0"/>
              <a:t>17. Name five pieces of political or non-political media you consumed this week – they can be podcasts, TV shows, YouTube, personalities, news articles, or prominent social media accounts. Please be as specific as possible</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DC6340AA-F052-8BD4-1E19-B185BC349DFC}"/>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CB7ED7C1-8E39-73AD-EDFF-1EF6BA8A68E9}"/>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C8D5303B-CE62-983B-D465-CD83DF90108F}"/>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3712E9E-EB2A-18FE-4CAA-0AC947AAF94A}"/>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3DC8F91D-42ED-FA09-8567-23AD6A7441C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226D63B-52DD-2DEF-4FF4-CF2DD89A7208}"/>
              </a:ext>
            </a:extLst>
          </p:cNvPr>
          <p:cNvSpPr txBox="1"/>
          <p:nvPr/>
        </p:nvSpPr>
        <p:spPr>
          <a:xfrm>
            <a:off x="2306683" y="1332204"/>
            <a:ext cx="1425979" cy="307777"/>
          </a:xfrm>
          <a:prstGeom prst="rect">
            <a:avLst/>
          </a:prstGeom>
          <a:noFill/>
        </p:spPr>
        <p:txBody>
          <a:bodyPr wrap="square" rtlCol="0">
            <a:spAutoFit/>
          </a:bodyPr>
          <a:lstStyle/>
          <a:p>
            <a:r>
              <a:rPr lang="en-US" dirty="0"/>
              <a:t>84% Complete</a:t>
            </a:r>
          </a:p>
        </p:txBody>
      </p:sp>
      <p:sp>
        <p:nvSpPr>
          <p:cNvPr id="11" name="Rectangle: Rounded Corners 10">
            <a:extLst>
              <a:ext uri="{FF2B5EF4-FFF2-40B4-BE49-F238E27FC236}">
                <a16:creationId xmlns:a16="http://schemas.microsoft.com/office/drawing/2014/main" id="{3621AFA7-C0EE-0E98-7F1A-F2D94F62BA81}"/>
              </a:ext>
            </a:extLst>
          </p:cNvPr>
          <p:cNvSpPr/>
          <p:nvPr/>
        </p:nvSpPr>
        <p:spPr>
          <a:xfrm>
            <a:off x="777923" y="3152907"/>
            <a:ext cx="3835020" cy="113249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040228BF-A766-0F68-C72D-3D3A3A596E0F}"/>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519784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00CE194-39AA-5A66-5484-791CF1455B87}"/>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D9B2EC51-FB97-CFEA-67DC-A01EE7A6A47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4" name="Rectangle 3">
            <a:extLst>
              <a:ext uri="{FF2B5EF4-FFF2-40B4-BE49-F238E27FC236}">
                <a16:creationId xmlns:a16="http://schemas.microsoft.com/office/drawing/2014/main" id="{92BD1A3F-EB7D-CADF-5277-0F5DB0810430}"/>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5D6992-EE4F-85C5-C63A-6ADA58EEB06A}"/>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BBCB244C-DD4A-C71F-98D8-580EFBEBB5AF}"/>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EE5C120E-F1BE-3549-1DBF-78549AAB51DB}"/>
              </a:ext>
            </a:extLst>
          </p:cNvPr>
          <p:cNvSpPr txBox="1"/>
          <p:nvPr/>
        </p:nvSpPr>
        <p:spPr>
          <a:xfrm>
            <a:off x="649356" y="1905672"/>
            <a:ext cx="4891633" cy="523220"/>
          </a:xfrm>
          <a:prstGeom prst="rect">
            <a:avLst/>
          </a:prstGeom>
          <a:noFill/>
        </p:spPr>
        <p:txBody>
          <a:bodyPr wrap="square" rtlCol="0">
            <a:spAutoFit/>
          </a:bodyPr>
          <a:lstStyle/>
          <a:p>
            <a:r>
              <a:rPr lang="en-US" b="1" dirty="0"/>
              <a:t>18. Name three issues that matter most to you</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7E3CE5ED-8AB0-D64B-F242-72996E2207D7}"/>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4EA35E20-7FF6-8BB9-E982-3565573940F5}"/>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FD50B481-5BAB-60A9-3469-70CEDC87FB0D}"/>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C5AF968-A7C5-F68F-AB68-6B41FB8E9CCF}"/>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242E4387-DE17-1AB1-90B4-03489651C16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2546D01-A158-A110-CDF4-956D8D7642E7}"/>
              </a:ext>
            </a:extLst>
          </p:cNvPr>
          <p:cNvSpPr txBox="1"/>
          <p:nvPr/>
        </p:nvSpPr>
        <p:spPr>
          <a:xfrm>
            <a:off x="2306684" y="1332204"/>
            <a:ext cx="1524926" cy="307777"/>
          </a:xfrm>
          <a:prstGeom prst="rect">
            <a:avLst/>
          </a:prstGeom>
          <a:noFill/>
        </p:spPr>
        <p:txBody>
          <a:bodyPr wrap="square" rtlCol="0">
            <a:spAutoFit/>
          </a:bodyPr>
          <a:lstStyle/>
          <a:p>
            <a:r>
              <a:rPr lang="en-US" dirty="0"/>
              <a:t>89% Complete</a:t>
            </a:r>
          </a:p>
        </p:txBody>
      </p:sp>
      <p:sp>
        <p:nvSpPr>
          <p:cNvPr id="11" name="Rectangle: Rounded Corners 10">
            <a:extLst>
              <a:ext uri="{FF2B5EF4-FFF2-40B4-BE49-F238E27FC236}">
                <a16:creationId xmlns:a16="http://schemas.microsoft.com/office/drawing/2014/main" id="{BC07FCEE-1011-3B07-AE30-D47A6193EBBD}"/>
              </a:ext>
            </a:extLst>
          </p:cNvPr>
          <p:cNvSpPr/>
          <p:nvPr/>
        </p:nvSpPr>
        <p:spPr>
          <a:xfrm>
            <a:off x="784747" y="2354131"/>
            <a:ext cx="3835020" cy="113249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17BC8D07-610A-648E-2F70-1D906717E095}"/>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1673644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3A68EF73-1425-D7D3-5C94-613D371B7DB8}"/>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FD6FC283-5E9E-FFCF-3AFA-F508FC29641B}"/>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4" name="Rectangle 3">
            <a:extLst>
              <a:ext uri="{FF2B5EF4-FFF2-40B4-BE49-F238E27FC236}">
                <a16:creationId xmlns:a16="http://schemas.microsoft.com/office/drawing/2014/main" id="{A457F667-7463-1826-4CF2-2B3495924FB4}"/>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397DBB9-7B49-2C9A-B5B5-B953AB71427E}"/>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7" name="Rectangle: Rounded Corners 6">
            <a:extLst>
              <a:ext uri="{FF2B5EF4-FFF2-40B4-BE49-F238E27FC236}">
                <a16:creationId xmlns:a16="http://schemas.microsoft.com/office/drawing/2014/main" id="{854002C8-1B78-FBCF-D37C-E8D56FB11B42}"/>
              </a:ext>
            </a:extLst>
          </p:cNvPr>
          <p:cNvSpPr/>
          <p:nvPr/>
        </p:nvSpPr>
        <p:spPr>
          <a:xfrm>
            <a:off x="3831610" y="5091109"/>
            <a:ext cx="1630905" cy="443948"/>
          </a:xfrm>
          <a:prstGeom prst="roundRect">
            <a:avLst/>
          </a:prstGeom>
          <a:solidFill>
            <a:srgbClr val="276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a:t>
            </a:r>
          </a:p>
        </p:txBody>
      </p:sp>
      <p:sp>
        <p:nvSpPr>
          <p:cNvPr id="10" name="TextBox 9">
            <a:extLst>
              <a:ext uri="{FF2B5EF4-FFF2-40B4-BE49-F238E27FC236}">
                <a16:creationId xmlns:a16="http://schemas.microsoft.com/office/drawing/2014/main" id="{E5D068A2-DF78-6F9D-1688-718BE56C2339}"/>
              </a:ext>
            </a:extLst>
          </p:cNvPr>
          <p:cNvSpPr txBox="1"/>
          <p:nvPr/>
        </p:nvSpPr>
        <p:spPr>
          <a:xfrm>
            <a:off x="649356" y="1905672"/>
            <a:ext cx="4891633" cy="738664"/>
          </a:xfrm>
          <a:prstGeom prst="rect">
            <a:avLst/>
          </a:prstGeom>
          <a:noFill/>
        </p:spPr>
        <p:txBody>
          <a:bodyPr wrap="square" rtlCol="0">
            <a:spAutoFit/>
          </a:bodyPr>
          <a:lstStyle/>
          <a:p>
            <a:r>
              <a:rPr lang="en-US" b="1" dirty="0"/>
              <a:t>19. Name three issues that are important for your elected officials to advocate for or against</a:t>
            </a:r>
          </a:p>
          <a:p>
            <a:pPr marL="342900" indent="-342900">
              <a:buFont typeface="+mj-lt"/>
              <a:buAutoNum type="arabicPeriod"/>
            </a:pPr>
            <a:endParaRPr lang="en-US" dirty="0"/>
          </a:p>
        </p:txBody>
      </p:sp>
      <p:sp>
        <p:nvSpPr>
          <p:cNvPr id="2" name="TextBox 1">
            <a:extLst>
              <a:ext uri="{FF2B5EF4-FFF2-40B4-BE49-F238E27FC236}">
                <a16:creationId xmlns:a16="http://schemas.microsoft.com/office/drawing/2014/main" id="{27C268B5-2CB5-6B55-2261-73227F75041F}"/>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BF5D4978-86F4-640E-FF70-006C475DFECD}"/>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568BD88C-70C2-D8EA-212C-EFFD0815A0A7}"/>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2DE9F83-6DDA-3ADE-13AB-FAF6FA09EE7E}"/>
              </a:ext>
            </a:extLst>
          </p:cNvPr>
          <p:cNvSpPr/>
          <p:nvPr/>
        </p:nvSpPr>
        <p:spPr>
          <a:xfrm>
            <a:off x="784747" y="5091109"/>
            <a:ext cx="1630905" cy="443948"/>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p>
        </p:txBody>
      </p:sp>
      <p:pic>
        <p:nvPicPr>
          <p:cNvPr id="14" name="Picture 2" descr="Progress Bar Icons - Free SVG &amp; PNG ...">
            <a:extLst>
              <a:ext uri="{FF2B5EF4-FFF2-40B4-BE49-F238E27FC236}">
                <a16:creationId xmlns:a16="http://schemas.microsoft.com/office/drawing/2014/main" id="{AE1F66DC-7E4F-9CEE-FBEB-B66A7C7F88A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C13D565-858A-E62B-82FA-E78F6A704C48}"/>
              </a:ext>
            </a:extLst>
          </p:cNvPr>
          <p:cNvSpPr txBox="1"/>
          <p:nvPr/>
        </p:nvSpPr>
        <p:spPr>
          <a:xfrm>
            <a:off x="2306684" y="1332204"/>
            <a:ext cx="1524926" cy="307777"/>
          </a:xfrm>
          <a:prstGeom prst="rect">
            <a:avLst/>
          </a:prstGeom>
          <a:noFill/>
        </p:spPr>
        <p:txBody>
          <a:bodyPr wrap="square" rtlCol="0">
            <a:spAutoFit/>
          </a:bodyPr>
          <a:lstStyle/>
          <a:p>
            <a:r>
              <a:rPr lang="en-US" dirty="0"/>
              <a:t>95% Complete</a:t>
            </a:r>
          </a:p>
        </p:txBody>
      </p:sp>
      <p:sp>
        <p:nvSpPr>
          <p:cNvPr id="11" name="Rectangle: Rounded Corners 10">
            <a:extLst>
              <a:ext uri="{FF2B5EF4-FFF2-40B4-BE49-F238E27FC236}">
                <a16:creationId xmlns:a16="http://schemas.microsoft.com/office/drawing/2014/main" id="{5B725AB0-E752-BD93-AD45-7174808B905D}"/>
              </a:ext>
            </a:extLst>
          </p:cNvPr>
          <p:cNvSpPr/>
          <p:nvPr/>
        </p:nvSpPr>
        <p:spPr>
          <a:xfrm>
            <a:off x="784747" y="2587944"/>
            <a:ext cx="3835020" cy="1132490"/>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dirty="0">
                <a:solidFill>
                  <a:schemeClr val="tx1"/>
                </a:solidFill>
              </a:rPr>
              <a:t>Max 500 characters…</a:t>
            </a:r>
          </a:p>
        </p:txBody>
      </p:sp>
      <p:sp>
        <p:nvSpPr>
          <p:cNvPr id="3" name="Google Shape;99;p14">
            <a:extLst>
              <a:ext uri="{FF2B5EF4-FFF2-40B4-BE49-F238E27FC236}">
                <a16:creationId xmlns:a16="http://schemas.microsoft.com/office/drawing/2014/main" id="{FA4EACF5-84DC-A43C-EF13-4556AC7FD421}"/>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2370592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8B8BD8A-E432-AA6D-B4A8-2F6A953A63AC}"/>
            </a:ext>
          </a:extLst>
        </p:cNvPr>
        <p:cNvGrpSpPr/>
        <p:nvPr/>
      </p:nvGrpSpPr>
      <p:grpSpPr>
        <a:xfrm>
          <a:off x="0" y="0"/>
          <a:ext cx="0" cy="0"/>
          <a:chOff x="0" y="0"/>
          <a:chExt cx="0" cy="0"/>
        </a:xfrm>
      </p:grpSpPr>
      <p:sp>
        <p:nvSpPr>
          <p:cNvPr id="98" name="Google Shape;98;p14">
            <a:extLst>
              <a:ext uri="{FF2B5EF4-FFF2-40B4-BE49-F238E27FC236}">
                <a16:creationId xmlns:a16="http://schemas.microsoft.com/office/drawing/2014/main" id="{181002C6-40EE-9E30-56E6-1B4FB42F05E6}"/>
              </a:ext>
            </a:extLst>
          </p:cNvPr>
          <p:cNvSpPr txBox="1">
            <a:spLocks noGrp="1"/>
          </p:cNvSpPr>
          <p:nvPr>
            <p:ph type="sldNum" idx="12"/>
          </p:nvPr>
        </p:nvSpPr>
        <p:spPr>
          <a:xfrm>
            <a:off x="8898890" y="6540972"/>
            <a:ext cx="27432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sp>
        <p:nvSpPr>
          <p:cNvPr id="4" name="Rectangle 3">
            <a:extLst>
              <a:ext uri="{FF2B5EF4-FFF2-40B4-BE49-F238E27FC236}">
                <a16:creationId xmlns:a16="http://schemas.microsoft.com/office/drawing/2014/main" id="{3933E50F-463D-7C72-437F-63F227F355FD}"/>
              </a:ext>
            </a:extLst>
          </p:cNvPr>
          <p:cNvSpPr/>
          <p:nvPr/>
        </p:nvSpPr>
        <p:spPr>
          <a:xfrm>
            <a:off x="649358" y="511346"/>
            <a:ext cx="4891633" cy="714971"/>
          </a:xfrm>
          <a:prstGeom prst="rect">
            <a:avLst/>
          </a:prstGeom>
          <a:solidFill>
            <a:srgbClr val="11151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C60A4F-9D16-026E-9323-635FF4EE05D1}"/>
              </a:ext>
            </a:extLst>
          </p:cNvPr>
          <p:cNvSpPr txBox="1"/>
          <p:nvPr/>
        </p:nvSpPr>
        <p:spPr>
          <a:xfrm>
            <a:off x="795130" y="646857"/>
            <a:ext cx="4114800" cy="400110"/>
          </a:xfrm>
          <a:prstGeom prst="rect">
            <a:avLst/>
          </a:prstGeom>
          <a:noFill/>
        </p:spPr>
        <p:txBody>
          <a:bodyPr wrap="square" rtlCol="0">
            <a:spAutoFit/>
          </a:bodyPr>
          <a:lstStyle/>
          <a:p>
            <a:r>
              <a:rPr lang="en-US" sz="2000" b="1" dirty="0">
                <a:solidFill>
                  <a:schemeClr val="bg1"/>
                </a:solidFill>
              </a:rPr>
              <a:t>Persona Grata Inc.</a:t>
            </a:r>
          </a:p>
        </p:txBody>
      </p:sp>
      <p:sp>
        <p:nvSpPr>
          <p:cNvPr id="9" name="TextBox 8">
            <a:extLst>
              <a:ext uri="{FF2B5EF4-FFF2-40B4-BE49-F238E27FC236}">
                <a16:creationId xmlns:a16="http://schemas.microsoft.com/office/drawing/2014/main" id="{9C767D2C-7E9A-E628-E650-1FD1D933B037}"/>
              </a:ext>
            </a:extLst>
          </p:cNvPr>
          <p:cNvSpPr txBox="1"/>
          <p:nvPr/>
        </p:nvSpPr>
        <p:spPr>
          <a:xfrm>
            <a:off x="649357" y="1856044"/>
            <a:ext cx="4891633" cy="707886"/>
          </a:xfrm>
          <a:prstGeom prst="rect">
            <a:avLst/>
          </a:prstGeom>
          <a:noFill/>
        </p:spPr>
        <p:txBody>
          <a:bodyPr wrap="square" rtlCol="0">
            <a:spAutoFit/>
          </a:bodyPr>
          <a:lstStyle/>
          <a:p>
            <a:r>
              <a:rPr lang="en-US" sz="2000" b="1" dirty="0">
                <a:solidFill>
                  <a:srgbClr val="276EF1"/>
                </a:solidFill>
              </a:rPr>
              <a:t>We’ve got your responses – our team is reviewing them now</a:t>
            </a:r>
          </a:p>
        </p:txBody>
      </p:sp>
      <p:sp>
        <p:nvSpPr>
          <p:cNvPr id="10" name="TextBox 9">
            <a:extLst>
              <a:ext uri="{FF2B5EF4-FFF2-40B4-BE49-F238E27FC236}">
                <a16:creationId xmlns:a16="http://schemas.microsoft.com/office/drawing/2014/main" id="{A516FC1A-162D-0A69-67C5-30C621A27DFE}"/>
              </a:ext>
            </a:extLst>
          </p:cNvPr>
          <p:cNvSpPr txBox="1"/>
          <p:nvPr/>
        </p:nvSpPr>
        <p:spPr>
          <a:xfrm>
            <a:off x="649356" y="2624260"/>
            <a:ext cx="4891633" cy="954107"/>
          </a:xfrm>
          <a:prstGeom prst="rect">
            <a:avLst/>
          </a:prstGeom>
          <a:noFill/>
        </p:spPr>
        <p:txBody>
          <a:bodyPr wrap="square" rtlCol="0">
            <a:spAutoFit/>
          </a:bodyPr>
          <a:lstStyle/>
          <a:p>
            <a:r>
              <a:rPr lang="en-US" dirty="0"/>
              <a:t>Thank you for completing the questionnaire. We’ll review your responses soon to confirm eligibility for this focus group. If you’re selected, we’ll contact you via your preferred method with next steps and incentive details.</a:t>
            </a:r>
          </a:p>
        </p:txBody>
      </p:sp>
      <p:sp>
        <p:nvSpPr>
          <p:cNvPr id="2" name="TextBox 1">
            <a:extLst>
              <a:ext uri="{FF2B5EF4-FFF2-40B4-BE49-F238E27FC236}">
                <a16:creationId xmlns:a16="http://schemas.microsoft.com/office/drawing/2014/main" id="{D449C001-14A0-94E7-3A9B-D581CCEEAA12}"/>
              </a:ext>
            </a:extLst>
          </p:cNvPr>
          <p:cNvSpPr txBox="1"/>
          <p:nvPr/>
        </p:nvSpPr>
        <p:spPr>
          <a:xfrm>
            <a:off x="586854" y="66902"/>
            <a:ext cx="2026692" cy="307777"/>
          </a:xfrm>
          <a:prstGeom prst="rect">
            <a:avLst/>
          </a:prstGeom>
          <a:noFill/>
        </p:spPr>
        <p:txBody>
          <a:bodyPr wrap="square" rtlCol="0">
            <a:spAutoFit/>
          </a:bodyPr>
          <a:lstStyle/>
          <a:p>
            <a:r>
              <a:rPr lang="en-US" dirty="0">
                <a:highlight>
                  <a:srgbClr val="FFFF00"/>
                </a:highlight>
              </a:rPr>
              <a:t>Mobile preview</a:t>
            </a:r>
            <a:r>
              <a:rPr lang="en-US" dirty="0"/>
              <a:t>:</a:t>
            </a:r>
          </a:p>
        </p:txBody>
      </p:sp>
      <p:sp>
        <p:nvSpPr>
          <p:cNvPr id="6" name="TextBox 5">
            <a:extLst>
              <a:ext uri="{FF2B5EF4-FFF2-40B4-BE49-F238E27FC236}">
                <a16:creationId xmlns:a16="http://schemas.microsoft.com/office/drawing/2014/main" id="{9FACD183-E827-1477-95B9-B9BFD2FF32D5}"/>
              </a:ext>
            </a:extLst>
          </p:cNvPr>
          <p:cNvSpPr txBox="1"/>
          <p:nvPr/>
        </p:nvSpPr>
        <p:spPr>
          <a:xfrm>
            <a:off x="649356" y="5586032"/>
            <a:ext cx="4891633" cy="830997"/>
          </a:xfrm>
          <a:prstGeom prst="rect">
            <a:avLst/>
          </a:prstGeom>
          <a:noFill/>
        </p:spPr>
        <p:txBody>
          <a:bodyPr wrap="square" rtlCol="0">
            <a:spAutoFit/>
          </a:bodyPr>
          <a:lstStyle/>
          <a:p>
            <a:r>
              <a:rPr lang="en-US" sz="800" b="1" dirty="0"/>
              <a:t>Disclosure: </a:t>
            </a:r>
            <a:r>
              <a:rPr lang="en-US" sz="800" dirty="0"/>
              <a:t>Participation in this research (including any questionnaire, survey, interview, or focus group) does not guarantee eligibility for an incentive. Only individuals who meet our client’s criteria will be invited to participate in any incentivized research activity. Persona Grata Inc. (“PGI”) facilitates participant matching and assumes no liability or responsibility for client-determined eligibility requirements, incentive fulfillment, or research content. For more information, please review Persona Grata Inc.’s </a:t>
            </a:r>
            <a:r>
              <a:rPr lang="en-US" sz="800" dirty="0">
                <a:solidFill>
                  <a:srgbClr val="0000FF"/>
                </a:solidFill>
              </a:rPr>
              <a:t>Terms and Conditions </a:t>
            </a:r>
            <a:r>
              <a:rPr lang="en-US" sz="800" dirty="0"/>
              <a:t>and </a:t>
            </a:r>
            <a:r>
              <a:rPr lang="en-US" sz="800" dirty="0">
                <a:solidFill>
                  <a:srgbClr val="0000FF"/>
                </a:solidFill>
              </a:rPr>
              <a:t>Privacy Policy</a:t>
            </a:r>
            <a:r>
              <a:rPr lang="en-US" sz="800" dirty="0"/>
              <a:t>.</a:t>
            </a:r>
          </a:p>
        </p:txBody>
      </p:sp>
      <p:sp>
        <p:nvSpPr>
          <p:cNvPr id="8" name="Rectangle: Rounded Corners 7">
            <a:extLst>
              <a:ext uri="{FF2B5EF4-FFF2-40B4-BE49-F238E27FC236}">
                <a16:creationId xmlns:a16="http://schemas.microsoft.com/office/drawing/2014/main" id="{E41ECD11-10FB-93F8-4FC8-F70DE4E32165}"/>
              </a:ext>
            </a:extLst>
          </p:cNvPr>
          <p:cNvSpPr/>
          <p:nvPr/>
        </p:nvSpPr>
        <p:spPr>
          <a:xfrm>
            <a:off x="457200" y="436727"/>
            <a:ext cx="5220269" cy="6011839"/>
          </a:xfrm>
          <a:prstGeom prst="roundRect">
            <a:avLst>
              <a:gd name="adj" fmla="val 3334"/>
            </a:avLst>
          </a:prstGeom>
          <a:noFill/>
          <a:ln>
            <a:solidFill>
              <a:srgbClr val="1214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F6EC5FA-9494-4CE3-18CF-546E9B5C7E2B}"/>
              </a:ext>
            </a:extLst>
          </p:cNvPr>
          <p:cNvSpPr txBox="1"/>
          <p:nvPr/>
        </p:nvSpPr>
        <p:spPr>
          <a:xfrm>
            <a:off x="680063" y="3681042"/>
            <a:ext cx="4891633" cy="1384995"/>
          </a:xfrm>
          <a:prstGeom prst="rect">
            <a:avLst/>
          </a:prstGeom>
          <a:noFill/>
        </p:spPr>
        <p:txBody>
          <a:bodyPr wrap="square" rtlCol="0">
            <a:spAutoFit/>
          </a:bodyPr>
          <a:lstStyle/>
          <a:p>
            <a:pPr marL="182880" indent="-182880">
              <a:buFont typeface="Arial" panose="020B0604020202020204" pitchFamily="34" charset="0"/>
              <a:buChar char="•"/>
            </a:pPr>
            <a:r>
              <a:rPr lang="en-US" dirty="0"/>
              <a:t>Our review usually takes 1-3 business days</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dirty="0"/>
              <a:t>You’ll be notified through your preferred contact method</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r>
              <a:rPr lang="en-US" dirty="0"/>
              <a:t>Your information remains confidential and secure</a:t>
            </a:r>
          </a:p>
          <a:p>
            <a:pPr marL="182880" indent="-182880">
              <a:buFont typeface="Arial" panose="020B0604020202020204" pitchFamily="34" charset="0"/>
              <a:buChar char="•"/>
            </a:pPr>
            <a:endParaRPr lang="en-US" dirty="0"/>
          </a:p>
        </p:txBody>
      </p:sp>
      <p:pic>
        <p:nvPicPr>
          <p:cNvPr id="12" name="Picture 2" descr="Progress Bar Icons - Free SVG &amp; PNG ...">
            <a:extLst>
              <a:ext uri="{FF2B5EF4-FFF2-40B4-BE49-F238E27FC236}">
                <a16:creationId xmlns:a16="http://schemas.microsoft.com/office/drawing/2014/main" id="{A7B271CB-11E5-DC67-9932-208E517998F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15652" y="1226316"/>
            <a:ext cx="1035409" cy="103540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94E6CF1-462E-F215-CAEF-E8593297C185}"/>
              </a:ext>
            </a:extLst>
          </p:cNvPr>
          <p:cNvSpPr txBox="1"/>
          <p:nvPr/>
        </p:nvSpPr>
        <p:spPr>
          <a:xfrm>
            <a:off x="2306684" y="1332204"/>
            <a:ext cx="1524926" cy="307777"/>
          </a:xfrm>
          <a:prstGeom prst="rect">
            <a:avLst/>
          </a:prstGeom>
          <a:noFill/>
        </p:spPr>
        <p:txBody>
          <a:bodyPr wrap="square" rtlCol="0">
            <a:spAutoFit/>
          </a:bodyPr>
          <a:lstStyle/>
          <a:p>
            <a:r>
              <a:rPr lang="en-US" dirty="0"/>
              <a:t>100% Complete</a:t>
            </a:r>
          </a:p>
        </p:txBody>
      </p:sp>
      <p:sp>
        <p:nvSpPr>
          <p:cNvPr id="3" name="Google Shape;99;p14">
            <a:extLst>
              <a:ext uri="{FF2B5EF4-FFF2-40B4-BE49-F238E27FC236}">
                <a16:creationId xmlns:a16="http://schemas.microsoft.com/office/drawing/2014/main" id="{AAC873A4-E099-ABEB-5E8C-2D2A31BCAFD4}"/>
              </a:ext>
            </a:extLst>
          </p:cNvPr>
          <p:cNvSpPr txBox="1">
            <a:spLocks noGrp="1"/>
          </p:cNvSpPr>
          <p:nvPr>
            <p:ph type="ftr" idx="11"/>
          </p:nvPr>
        </p:nvSpPr>
        <p:spPr>
          <a:xfrm>
            <a:off x="4038600" y="6540972"/>
            <a:ext cx="4114800"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dirty="0"/>
              <a:t>Persona Grata Inc. - Copyright © 2026 – All rights reserved</a:t>
            </a:r>
            <a:endParaRPr dirty="0"/>
          </a:p>
        </p:txBody>
      </p:sp>
    </p:spTree>
    <p:extLst>
      <p:ext uri="{BB962C8B-B14F-4D97-AF65-F5344CB8AC3E}">
        <p14:creationId xmlns:p14="http://schemas.microsoft.com/office/powerpoint/2010/main" val="411518869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2219</TotalTime>
  <Words>3129</Words>
  <Application>Microsoft Office PowerPoint</Application>
  <PresentationFormat>Widescreen</PresentationFormat>
  <Paragraphs>280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Jeff Thoben</dc:creator>
  <cp:lastModifiedBy>Jeff</cp:lastModifiedBy>
  <cp:revision>334</cp:revision>
  <dcterms:modified xsi:type="dcterms:W3CDTF">2026-02-03T20:10:37Z</dcterms:modified>
</cp:coreProperties>
</file>