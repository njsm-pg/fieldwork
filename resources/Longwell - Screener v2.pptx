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3"/>
  </p:notesMasterIdLst>
  <p:sldIdLst>
    <p:sldId id="265" r:id="rId2"/>
    <p:sldId id="274" r:id="rId3"/>
    <p:sldId id="292" r:id="rId4"/>
    <p:sldId id="291" r:id="rId5"/>
    <p:sldId id="275" r:id="rId6"/>
    <p:sldId id="276" r:id="rId7"/>
    <p:sldId id="290"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73"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31AE3D1B-64C5-4A9E-8B3E-3D0A7E939F54}">
          <p14:sldIdLst>
            <p14:sldId id="265"/>
            <p14:sldId id="274"/>
            <p14:sldId id="292"/>
            <p14:sldId id="291"/>
            <p14:sldId id="275"/>
            <p14:sldId id="276"/>
            <p14:sldId id="290"/>
            <p14:sldId id="277"/>
            <p14:sldId id="278"/>
            <p14:sldId id="279"/>
            <p14:sldId id="280"/>
            <p14:sldId id="281"/>
            <p14:sldId id="282"/>
            <p14:sldId id="283"/>
            <p14:sldId id="284"/>
            <p14:sldId id="285"/>
            <p14:sldId id="286"/>
            <p14:sldId id="287"/>
            <p14:sldId id="288"/>
            <p14:sldId id="289"/>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B78E17-FFE6-CAE4-7725-9BF4A7B0464F}" name="Jeff" initials="J" userId="S::jeff@quiltyanalytics.com::c39e5863-af9c-4c6f-b17b-7ad43f5ad6c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diego torrejon"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EF1"/>
    <a:srgbClr val="8F1A95"/>
    <a:srgbClr val="FFFFFF"/>
    <a:srgbClr val="11151D"/>
    <a:srgbClr val="0000FF"/>
    <a:srgbClr val="12141D"/>
    <a:srgbClr val="4E46DD"/>
    <a:srgbClr val="4139C2"/>
    <a:srgbClr val="F0F0F0"/>
    <a:srgbClr val="C3AB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E4540C-611B-4633-9177-C56DEA8E4B9C}">
  <a:tblStyle styleId="{1CE4540C-611B-4633-9177-C56DEA8E4B9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23" autoAdjust="0"/>
    <p:restoredTop sz="97337" autoAdjust="0"/>
  </p:normalViewPr>
  <p:slideViewPr>
    <p:cSldViewPr snapToGrid="0">
      <p:cViewPr varScale="1">
        <p:scale>
          <a:sx n="144" d="100"/>
          <a:sy n="144" d="100"/>
        </p:scale>
        <p:origin x="1116" y="3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0C239C4-F34A-7085-0171-686DD2CE2935}"/>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06E2289-7B97-3504-DF04-BBFE7F5785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A2F65861-FF6C-7E49-2EF6-3DF0DBAE3A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1864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C343C4D-A47F-F76F-4A6C-87BF231433F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0EA95578-B27D-C0BC-CD6C-E859C85F139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A9D90F60-BB1F-6615-FC58-2318561A7F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3488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8376DB7-412A-2238-99D5-486590AF3B5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2CD4BEA-000F-EA1B-1417-F9A0B2A449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D3A417E-C3A6-5B5E-B2F7-E871814115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588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DF6076C-7655-2DDD-176D-4126C2CFA82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B8671C0C-C966-FF57-D0A8-2A9D643127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024D8B35-0E78-74C4-13CE-454B670D88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4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69E4DDE-6ED9-DD83-3690-88D2799BF88A}"/>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B5356087-8B1B-B230-82B4-E89889DE91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C5166EE-19A9-90A3-251B-55F0AE949B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427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8F66691-7024-D86F-11AA-111756C9251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119931DE-A5CB-0455-ADBC-ED528A2E8C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3A9F46D7-DF37-C30D-EB68-85201581EA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299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7198904-6C4C-E27E-5051-A5B77CFCC74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001E983-69F4-F6D4-1919-88AD1A2247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016FC835-2F36-7BE9-3309-A75639229C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5243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B887C7A-EFCF-5DFE-A696-F477997080A9}"/>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28D2A39-870C-F4FF-7574-066C398110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078CC46-D676-C650-AB0A-C00E045CBA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3687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6205421-F6D3-1F0D-8F8A-04AA4799820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391B7DC-C5FF-56BF-4121-74EE7C4236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82D5A9E-977B-C5D9-1B7F-FAF2B90E97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5624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55CDE16-1FA4-6217-0C85-142B68083897}"/>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E23A3DC-4BA3-450A-BFE7-5E335C85E2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3EA667B-B332-6057-36B7-3D19D104DB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92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6987DA6-5B3A-2F9B-DA00-552FEFBD185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7F7EF701-2F7C-8A7B-B83C-DA8003FCF3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66F8674-A196-4165-E258-57A533A76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740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C8B35DF0-11B8-9E54-20DE-024FB92E3BD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6FF921D1-7F30-DFB6-4AC5-BB29447485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8C96995-7563-BA9E-F90B-29C9842A3D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510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E4FEC6B-646E-60F6-ABEF-F8C7ED183F95}"/>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E3E3CC72-8522-D802-A0EE-581EDF36BE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8ED26D8-116B-AC79-E909-B9529D06BA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541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927E42B-B6ED-96F2-1D43-9B8E0367154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2A5F5CCF-BB87-1CD1-A3F8-5C407E0F2F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ED99667D-34E0-594E-BAB6-DCBDD1B84A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556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085612E-79CC-7B44-BDA8-1863447FB5A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5096BFF3-6F74-78E6-FA2D-97BFD1472D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9E958FA-D4BF-D147-96B1-0A8BE522FA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0539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9F46399-764E-9F66-7607-102E5B933A8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28E745C8-75C5-BE37-3D80-E38648E6A6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F756458A-B557-3A5E-62C5-AB6392B786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9845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8B150A22-CF85-239A-36C9-03613EB2C2EA}"/>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1AF16C81-4584-C7B4-3EFB-0BDEC5AF53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F671BBF6-7814-2956-44F7-2C517EFF94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943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C24A9AB-B39E-F81E-F1C0-083AC3B09B2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CC658B15-4CA1-C9D8-60D5-D8CDC4B33B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94ABC7D6-6329-CAF0-D24C-44B222DE0C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8905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98B2813-8F3D-27DD-A545-72B3C85035A1}"/>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1D3F127-683D-94D7-5649-5E282EE2FF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966398D8-FE17-CCA7-F264-17C53F4886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180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360312B-46F3-DCB7-15C9-2692734B54CB}"/>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54B7AE95-95F1-B383-3076-831717D5BB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15DA4749-4DF9-EC17-4134-0AA79DC756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8320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43B55AA-9323-FE22-E6E7-2D9025A2AECF}"/>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9524EB17-E11D-6B6D-CA5A-16B271E0EC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E86D4547-DEE0-449F-CA70-6DB0C155BA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020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38200" y="66421"/>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3"/>
          <p:cNvSpPr txBox="1">
            <a:spLocks noGrp="1"/>
          </p:cNvSpPr>
          <p:nvPr>
            <p:ph type="dt" idx="10"/>
          </p:nvPr>
        </p:nvSpPr>
        <p:spPr>
          <a:xfrm>
            <a:off x="612648" y="645388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800" b="0" i="0" u="none" strike="noStrike" cap="none">
                <a:solidFill>
                  <a:schemeClr val="dk1"/>
                </a:solidFill>
                <a:latin typeface="Calibri"/>
                <a:ea typeface="Calibri"/>
                <a:cs typeface="Calibri"/>
                <a:sym typeface="Calibri"/>
              </a:defRPr>
            </a:lvl1pPr>
            <a:lvl2pPr marL="0" marR="0" lvl="1" indent="0" algn="r" rtl="0">
              <a:spcBef>
                <a:spcPts val="0"/>
              </a:spcBef>
              <a:buNone/>
              <a:defRPr sz="800" b="0" i="0" u="none" strike="noStrike" cap="none">
                <a:solidFill>
                  <a:schemeClr val="dk1"/>
                </a:solidFill>
                <a:latin typeface="Calibri"/>
                <a:ea typeface="Calibri"/>
                <a:cs typeface="Calibri"/>
                <a:sym typeface="Calibri"/>
              </a:defRPr>
            </a:lvl2pPr>
            <a:lvl3pPr marL="0" marR="0" lvl="2" indent="0" algn="r" rtl="0">
              <a:spcBef>
                <a:spcPts val="0"/>
              </a:spcBef>
              <a:buNone/>
              <a:defRPr sz="800" b="0" i="0" u="none" strike="noStrike" cap="none">
                <a:solidFill>
                  <a:schemeClr val="dk1"/>
                </a:solidFill>
                <a:latin typeface="Calibri"/>
                <a:ea typeface="Calibri"/>
                <a:cs typeface="Calibri"/>
                <a:sym typeface="Calibri"/>
              </a:defRPr>
            </a:lvl3pPr>
            <a:lvl4pPr marL="0" marR="0" lvl="3" indent="0" algn="r" rtl="0">
              <a:spcBef>
                <a:spcPts val="0"/>
              </a:spcBef>
              <a:buNone/>
              <a:defRPr sz="800" b="0" i="0" u="none" strike="noStrike" cap="none">
                <a:solidFill>
                  <a:schemeClr val="dk1"/>
                </a:solidFill>
                <a:latin typeface="Calibri"/>
                <a:ea typeface="Calibri"/>
                <a:cs typeface="Calibri"/>
                <a:sym typeface="Calibri"/>
              </a:defRPr>
            </a:lvl4pPr>
            <a:lvl5pPr marL="0" marR="0" lvl="4" indent="0" algn="r" rtl="0">
              <a:spcBef>
                <a:spcPts val="0"/>
              </a:spcBef>
              <a:buNone/>
              <a:defRPr sz="800" b="0" i="0" u="none" strike="noStrike" cap="none">
                <a:solidFill>
                  <a:schemeClr val="dk1"/>
                </a:solidFill>
                <a:latin typeface="Calibri"/>
                <a:ea typeface="Calibri"/>
                <a:cs typeface="Calibri"/>
                <a:sym typeface="Calibri"/>
              </a:defRPr>
            </a:lvl5pPr>
            <a:lvl6pPr marL="0" marR="0" lvl="5" indent="0" algn="r" rtl="0">
              <a:spcBef>
                <a:spcPts val="0"/>
              </a:spcBef>
              <a:buNone/>
              <a:defRPr sz="800" b="0" i="0" u="none" strike="noStrike" cap="none">
                <a:solidFill>
                  <a:schemeClr val="dk1"/>
                </a:solidFill>
                <a:latin typeface="Calibri"/>
                <a:ea typeface="Calibri"/>
                <a:cs typeface="Calibri"/>
                <a:sym typeface="Calibri"/>
              </a:defRPr>
            </a:lvl6pPr>
            <a:lvl7pPr marL="0" marR="0" lvl="6" indent="0" algn="r" rtl="0">
              <a:spcBef>
                <a:spcPts val="0"/>
              </a:spcBef>
              <a:buNone/>
              <a:defRPr sz="800" b="0" i="0" u="none" strike="noStrike" cap="none">
                <a:solidFill>
                  <a:schemeClr val="dk1"/>
                </a:solidFill>
                <a:latin typeface="Calibri"/>
                <a:ea typeface="Calibri"/>
                <a:cs typeface="Calibri"/>
                <a:sym typeface="Calibri"/>
              </a:defRPr>
            </a:lvl7pPr>
            <a:lvl8pPr marL="0" marR="0" lvl="7" indent="0" algn="r" rtl="0">
              <a:spcBef>
                <a:spcPts val="0"/>
              </a:spcBef>
              <a:buNone/>
              <a:defRPr sz="800" b="0" i="0" u="none" strike="noStrike" cap="none">
                <a:solidFill>
                  <a:schemeClr val="dk1"/>
                </a:solidFill>
                <a:latin typeface="Calibri"/>
                <a:ea typeface="Calibri"/>
                <a:cs typeface="Calibri"/>
                <a:sym typeface="Calibri"/>
              </a:defRPr>
            </a:lvl8pPr>
            <a:lvl9pPr marL="0" marR="0" lvl="8" indent="0" algn="r" rtl="0">
              <a:spcBef>
                <a:spcPts val="0"/>
              </a:spcBef>
              <a:buNone/>
              <a:defRPr sz="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4" name="Google Shape;24;p3"/>
          <p:cNvCxnSpPr/>
          <p:nvPr/>
        </p:nvCxnSpPr>
        <p:spPr>
          <a:xfrm>
            <a:off x="610551" y="6469215"/>
            <a:ext cx="10965753"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
          <p:cNvSpPr>
            <a:spLocks noGrp="1"/>
          </p:cNvSpPr>
          <p:nvPr>
            <p:ph type="pic" idx="2"/>
          </p:nvPr>
        </p:nvSpPr>
        <p:spPr>
          <a:xfrm>
            <a:off x="5183188" y="987425"/>
            <a:ext cx="6172200" cy="4873625"/>
          </a:xfrm>
          <a:prstGeom prst="rect">
            <a:avLst/>
          </a:prstGeom>
          <a:noFill/>
          <a:ln>
            <a:noFill/>
          </a:ln>
        </p:spPr>
      </p:sp>
      <p:sp>
        <p:nvSpPr>
          <p:cNvPr id="66" name="Google Shape;66;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4EF362F-1279-D5E2-7AD6-A72BCE431F2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0AF0F02-697F-1CAA-EC66-5FB603E0800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
        <p:nvSpPr>
          <p:cNvPr id="99" name="Google Shape;99;p14">
            <a:extLst>
              <a:ext uri="{FF2B5EF4-FFF2-40B4-BE49-F238E27FC236}">
                <a16:creationId xmlns:a16="http://schemas.microsoft.com/office/drawing/2014/main" id="{5404806F-E3BB-84AC-48EF-5C447A9764A3}"/>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4" name="Rectangle 3">
            <a:extLst>
              <a:ext uri="{FF2B5EF4-FFF2-40B4-BE49-F238E27FC236}">
                <a16:creationId xmlns:a16="http://schemas.microsoft.com/office/drawing/2014/main" id="{51913E23-E53D-680A-15C3-C2125963EF85}"/>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A1E28A-BA32-D890-F945-05DB2136B5C0}"/>
              </a:ext>
            </a:extLst>
          </p:cNvPr>
          <p:cNvSpPr txBox="1"/>
          <p:nvPr/>
        </p:nvSpPr>
        <p:spPr>
          <a:xfrm>
            <a:off x="649356" y="533943"/>
            <a:ext cx="5300870" cy="646331"/>
          </a:xfrm>
          <a:prstGeom prst="rect">
            <a:avLst/>
          </a:prstGeom>
          <a:noFill/>
        </p:spPr>
        <p:txBody>
          <a:bodyPr wrap="square" rtlCol="0">
            <a:spAutoFit/>
          </a:bodyPr>
          <a:lstStyle/>
          <a:p>
            <a:r>
              <a:rPr lang="en-US" sz="2000" b="1" dirty="0">
                <a:solidFill>
                  <a:schemeClr val="bg1"/>
                </a:solidFill>
              </a:rPr>
              <a:t>$120 Incentive for Focus Group</a:t>
            </a:r>
          </a:p>
          <a:p>
            <a:r>
              <a:rPr lang="en-US" sz="1600" b="1" i="1" dirty="0">
                <a:solidFill>
                  <a:schemeClr val="bg1"/>
                </a:solidFill>
              </a:rPr>
              <a:t>(If Qualified &amp; Selected)</a:t>
            </a:r>
          </a:p>
        </p:txBody>
      </p:sp>
      <p:sp>
        <p:nvSpPr>
          <p:cNvPr id="7" name="Rectangle: Rounded Corners 6">
            <a:extLst>
              <a:ext uri="{FF2B5EF4-FFF2-40B4-BE49-F238E27FC236}">
                <a16:creationId xmlns:a16="http://schemas.microsoft.com/office/drawing/2014/main" id="{06A8C5B1-378F-BA23-9BA2-0C7712EE156E}"/>
              </a:ext>
            </a:extLst>
          </p:cNvPr>
          <p:cNvSpPr/>
          <p:nvPr/>
        </p:nvSpPr>
        <p:spPr>
          <a:xfrm>
            <a:off x="649356" y="5111060"/>
            <a:ext cx="4891633"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 Now</a:t>
            </a:r>
          </a:p>
        </p:txBody>
      </p:sp>
      <p:sp>
        <p:nvSpPr>
          <p:cNvPr id="9" name="TextBox 8">
            <a:extLst>
              <a:ext uri="{FF2B5EF4-FFF2-40B4-BE49-F238E27FC236}">
                <a16:creationId xmlns:a16="http://schemas.microsoft.com/office/drawing/2014/main" id="{CD5DB4D9-864D-E89D-4BEF-846AF6FD89FC}"/>
              </a:ext>
            </a:extLst>
          </p:cNvPr>
          <p:cNvSpPr txBox="1"/>
          <p:nvPr/>
        </p:nvSpPr>
        <p:spPr>
          <a:xfrm>
            <a:off x="649357" y="1303307"/>
            <a:ext cx="4891633" cy="707886"/>
          </a:xfrm>
          <a:prstGeom prst="rect">
            <a:avLst/>
          </a:prstGeom>
          <a:noFill/>
        </p:spPr>
        <p:txBody>
          <a:bodyPr wrap="square" rtlCol="0">
            <a:spAutoFit/>
          </a:bodyPr>
          <a:lstStyle/>
          <a:p>
            <a:r>
              <a:rPr lang="en-US" sz="2000" b="1" dirty="0">
                <a:solidFill>
                  <a:srgbClr val="276EF1"/>
                </a:solidFill>
              </a:rPr>
              <a:t>Thanks for clicking – your perspective matters</a:t>
            </a:r>
          </a:p>
        </p:txBody>
      </p:sp>
      <p:sp>
        <p:nvSpPr>
          <p:cNvPr id="10" name="TextBox 9">
            <a:extLst>
              <a:ext uri="{FF2B5EF4-FFF2-40B4-BE49-F238E27FC236}">
                <a16:creationId xmlns:a16="http://schemas.microsoft.com/office/drawing/2014/main" id="{18890217-5B19-F753-54F6-783BA7DEACC2}"/>
              </a:ext>
            </a:extLst>
          </p:cNvPr>
          <p:cNvSpPr txBox="1"/>
          <p:nvPr/>
        </p:nvSpPr>
        <p:spPr>
          <a:xfrm>
            <a:off x="649356" y="2011193"/>
            <a:ext cx="4891633" cy="1169551"/>
          </a:xfrm>
          <a:prstGeom prst="rect">
            <a:avLst/>
          </a:prstGeom>
          <a:noFill/>
        </p:spPr>
        <p:txBody>
          <a:bodyPr wrap="square" rtlCol="0">
            <a:spAutoFit/>
          </a:bodyPr>
          <a:lstStyle/>
          <a:p>
            <a:r>
              <a:rPr lang="en-US" dirty="0"/>
              <a:t>Complete this short questionnaire to see if you qualify for a live focus group taking place on February 26</a:t>
            </a:r>
            <a:r>
              <a:rPr lang="en-US" baseline="30000" dirty="0"/>
              <a:t>th</a:t>
            </a:r>
            <a:r>
              <a:rPr lang="en-US" dirty="0"/>
              <a:t>. An incentive of $120 will be provided after the session to participants who qualify, are selected, and participate in the focus group.</a:t>
            </a:r>
          </a:p>
        </p:txBody>
      </p:sp>
      <p:sp>
        <p:nvSpPr>
          <p:cNvPr id="2" name="TextBox 1">
            <a:extLst>
              <a:ext uri="{FF2B5EF4-FFF2-40B4-BE49-F238E27FC236}">
                <a16:creationId xmlns:a16="http://schemas.microsoft.com/office/drawing/2014/main" id="{D64ABBB8-415A-2FD3-6B4D-D8AF70D402B4}"/>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3" name="TextBox 2">
            <a:extLst>
              <a:ext uri="{FF2B5EF4-FFF2-40B4-BE49-F238E27FC236}">
                <a16:creationId xmlns:a16="http://schemas.microsoft.com/office/drawing/2014/main" id="{607E0FB0-98C8-C03E-B197-84F91F9A2FB3}"/>
              </a:ext>
            </a:extLst>
          </p:cNvPr>
          <p:cNvSpPr txBox="1"/>
          <p:nvPr/>
        </p:nvSpPr>
        <p:spPr>
          <a:xfrm>
            <a:off x="621517" y="3227133"/>
            <a:ext cx="4891633" cy="1815882"/>
          </a:xfrm>
          <a:prstGeom prst="rect">
            <a:avLst/>
          </a:prstGeom>
          <a:noFill/>
        </p:spPr>
        <p:txBody>
          <a:bodyPr wrap="square" rtlCol="0">
            <a:spAutoFit/>
          </a:bodyPr>
          <a:lstStyle/>
          <a:p>
            <a:pPr marL="182880" indent="-182880">
              <a:buFont typeface="Arial" panose="020B0604020202020204" pitchFamily="34" charset="0"/>
              <a:buChar char="•"/>
            </a:pPr>
            <a:r>
              <a:rPr lang="en-US" b="1" dirty="0"/>
              <a:t>Quick and easy: </a:t>
            </a:r>
            <a:r>
              <a:rPr lang="en-US" dirty="0"/>
              <a:t>most people finish questionnaire in 5 minutes or less</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b="1" dirty="0"/>
              <a:t>$120 incentive:</a:t>
            </a:r>
            <a:r>
              <a:rPr lang="en-US" dirty="0"/>
              <a:t> selected participants who complete the 2-hour focus group receive $120</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b="1" dirty="0"/>
              <a:t>Confidential and secure:</a:t>
            </a:r>
            <a:r>
              <a:rPr lang="en-US" dirty="0"/>
              <a:t> your data stays confidential and secure</a:t>
            </a:r>
          </a:p>
        </p:txBody>
      </p:sp>
      <p:sp>
        <p:nvSpPr>
          <p:cNvPr id="6" name="TextBox 5">
            <a:extLst>
              <a:ext uri="{FF2B5EF4-FFF2-40B4-BE49-F238E27FC236}">
                <a16:creationId xmlns:a16="http://schemas.microsoft.com/office/drawing/2014/main" id="{1717C3FE-28BA-7F4F-F014-14920E749CB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25F49BCC-327B-D3AE-A986-96320C0BF98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8999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D5735B4-8E0C-EC7F-3B51-6F54FB3E3F8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A3E1F01-A82E-C69E-CEFC-78D9570B2A0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
        <p:nvSpPr>
          <p:cNvPr id="4" name="Rectangle 3">
            <a:extLst>
              <a:ext uri="{FF2B5EF4-FFF2-40B4-BE49-F238E27FC236}">
                <a16:creationId xmlns:a16="http://schemas.microsoft.com/office/drawing/2014/main" id="{D1FEAA2D-5742-CD99-C11E-829734090616}"/>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773AA8-B48A-1556-F4F1-3F45F630C388}"/>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FB4A405-1C12-0119-A0F1-59C97F02AC4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50870C81-A180-DE61-BC73-178D1E55AB00}"/>
              </a:ext>
            </a:extLst>
          </p:cNvPr>
          <p:cNvSpPr txBox="1"/>
          <p:nvPr/>
        </p:nvSpPr>
        <p:spPr>
          <a:xfrm>
            <a:off x="649356" y="1932968"/>
            <a:ext cx="4891633" cy="523220"/>
          </a:xfrm>
          <a:prstGeom prst="rect">
            <a:avLst/>
          </a:prstGeom>
          <a:noFill/>
        </p:spPr>
        <p:txBody>
          <a:bodyPr wrap="square" rtlCol="0">
            <a:spAutoFit/>
          </a:bodyPr>
          <a:lstStyle/>
          <a:p>
            <a:r>
              <a:rPr lang="en-US" b="1" dirty="0"/>
              <a:t>1. Consent &amp; Verification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A0B7402F-A646-9F56-F8BE-E519603B5AEF}"/>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465A783-2660-6367-215B-2ECC591B6BB8}"/>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A8DE0BEC-6779-2148-E0F1-D38B9D87674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A1FA559-DACF-282D-F5FE-29B49D80D50B}"/>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BF251D7-A003-4666-58D3-8742CE4942C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D823432-FB66-1563-1DDF-C7E6E5042EEC}"/>
              </a:ext>
            </a:extLst>
          </p:cNvPr>
          <p:cNvSpPr txBox="1"/>
          <p:nvPr/>
        </p:nvSpPr>
        <p:spPr>
          <a:xfrm>
            <a:off x="2306684" y="1332204"/>
            <a:ext cx="1253344" cy="307777"/>
          </a:xfrm>
          <a:prstGeom prst="rect">
            <a:avLst/>
          </a:prstGeom>
          <a:noFill/>
        </p:spPr>
        <p:txBody>
          <a:bodyPr wrap="square" rtlCol="0">
            <a:spAutoFit/>
          </a:bodyPr>
          <a:lstStyle/>
          <a:p>
            <a:r>
              <a:rPr lang="en-US" dirty="0"/>
              <a:t>0% Complete</a:t>
            </a:r>
          </a:p>
        </p:txBody>
      </p:sp>
      <p:pic>
        <p:nvPicPr>
          <p:cNvPr id="17" name="Graphic 16" descr="Checkbox Checked outline">
            <a:extLst>
              <a:ext uri="{FF2B5EF4-FFF2-40B4-BE49-F238E27FC236}">
                <a16:creationId xmlns:a16="http://schemas.microsoft.com/office/drawing/2014/main" id="{E258A4D7-AD3F-97FD-67F8-738E3AFE71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2602792"/>
            <a:ext cx="340520" cy="340520"/>
          </a:xfrm>
          <a:prstGeom prst="rect">
            <a:avLst/>
          </a:prstGeom>
        </p:spPr>
      </p:pic>
      <p:sp>
        <p:nvSpPr>
          <p:cNvPr id="27" name="Rectangle: Rounded Corners 26">
            <a:extLst>
              <a:ext uri="{FF2B5EF4-FFF2-40B4-BE49-F238E27FC236}">
                <a16:creationId xmlns:a16="http://schemas.microsoft.com/office/drawing/2014/main" id="{F4F93E5B-4757-E2C0-CFB3-3CA2EED8C1BE}"/>
              </a:ext>
            </a:extLst>
          </p:cNvPr>
          <p:cNvSpPr/>
          <p:nvPr/>
        </p:nvSpPr>
        <p:spPr>
          <a:xfrm>
            <a:off x="812041" y="2603926"/>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C5B7055-703D-66DE-17DA-92179F015FB7}"/>
              </a:ext>
            </a:extLst>
          </p:cNvPr>
          <p:cNvSpPr txBox="1"/>
          <p:nvPr/>
        </p:nvSpPr>
        <p:spPr>
          <a:xfrm>
            <a:off x="723331" y="2275169"/>
            <a:ext cx="4817658" cy="2472472"/>
          </a:xfrm>
          <a:prstGeom prst="rect">
            <a:avLst/>
          </a:prstGeom>
          <a:noFill/>
        </p:spPr>
        <p:txBody>
          <a:bodyPr wrap="square">
            <a:spAutoFit/>
          </a:bodyPr>
          <a:lstStyle/>
          <a:p>
            <a:pPr lvl="3">
              <a:spcBef>
                <a:spcPts val="800"/>
              </a:spcBef>
            </a:pPr>
            <a:r>
              <a:rPr lang="en-US" sz="1200" b="1" dirty="0"/>
              <a:t>I confirm that I am 18 years of age or older</a:t>
            </a:r>
            <a:r>
              <a:rPr lang="en-US" sz="1200" b="1" dirty="0">
                <a:solidFill>
                  <a:srgbClr val="FF0000"/>
                </a:solidFill>
              </a:rPr>
              <a:t>*</a:t>
            </a:r>
          </a:p>
          <a:p>
            <a:pPr lvl="3">
              <a:spcBef>
                <a:spcPts val="800"/>
              </a:spcBef>
            </a:pPr>
            <a:endParaRPr lang="en-US" sz="1200" b="1" dirty="0"/>
          </a:p>
          <a:p>
            <a:pPr lvl="3">
              <a:spcBef>
                <a:spcPts val="800"/>
              </a:spcBef>
            </a:pPr>
            <a:endParaRPr lang="en-US" sz="1200" b="1" dirty="0"/>
          </a:p>
          <a:p>
            <a:pPr lvl="3">
              <a:spcBef>
                <a:spcPts val="800"/>
              </a:spcBef>
            </a:pPr>
            <a:r>
              <a:rPr lang="en-US" sz="1200" b="1" dirty="0"/>
              <a:t>I consent to my responses being collected, stored, and analyzed for research purposes</a:t>
            </a:r>
            <a:r>
              <a:rPr lang="en-US" sz="1200" b="1" dirty="0">
                <a:solidFill>
                  <a:srgbClr val="FF0000"/>
                </a:solidFill>
              </a:rPr>
              <a:t>*</a:t>
            </a:r>
            <a:endParaRPr lang="en-US" sz="1200" b="1" dirty="0"/>
          </a:p>
          <a:p>
            <a:pPr lvl="3">
              <a:spcBef>
                <a:spcPts val="800"/>
              </a:spcBef>
            </a:pPr>
            <a:endParaRPr lang="en-US" sz="1200" b="1" dirty="0"/>
          </a:p>
          <a:p>
            <a:pPr lvl="3">
              <a:spcBef>
                <a:spcPts val="800"/>
              </a:spcBef>
            </a:pPr>
            <a:endParaRPr lang="en-US" sz="1200" b="1" dirty="0"/>
          </a:p>
          <a:p>
            <a:pPr lvl="3">
              <a:spcBef>
                <a:spcPts val="800"/>
              </a:spcBef>
            </a:pPr>
            <a:r>
              <a:rPr lang="en-US" sz="1200" b="1" dirty="0"/>
              <a:t>I agree to be contacted for follow-up questions or clarifications</a:t>
            </a:r>
            <a:r>
              <a:rPr lang="en-US" sz="1200" b="1" dirty="0">
                <a:solidFill>
                  <a:srgbClr val="FF0000"/>
                </a:solidFill>
              </a:rPr>
              <a:t>*</a:t>
            </a:r>
            <a:endParaRPr lang="en-US" sz="1200" b="1" dirty="0"/>
          </a:p>
          <a:p>
            <a:pPr lvl="3">
              <a:spcBef>
                <a:spcPts val="800"/>
              </a:spcBef>
            </a:pPr>
            <a:r>
              <a:rPr lang="en-US" sz="1200" b="1" dirty="0"/>
              <a:t> </a:t>
            </a:r>
          </a:p>
        </p:txBody>
      </p:sp>
      <p:sp>
        <p:nvSpPr>
          <p:cNvPr id="30" name="Rectangle: Rounded Corners 29">
            <a:extLst>
              <a:ext uri="{FF2B5EF4-FFF2-40B4-BE49-F238E27FC236}">
                <a16:creationId xmlns:a16="http://schemas.microsoft.com/office/drawing/2014/main" id="{279D9AFA-7102-E959-5130-D2BF9539FE86}"/>
              </a:ext>
            </a:extLst>
          </p:cNvPr>
          <p:cNvSpPr/>
          <p:nvPr/>
        </p:nvSpPr>
        <p:spPr>
          <a:xfrm>
            <a:off x="812041" y="3673588"/>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47D0F8EE-758D-353E-1F5D-210A7ED4EEF5}"/>
              </a:ext>
            </a:extLst>
          </p:cNvPr>
          <p:cNvSpPr/>
          <p:nvPr/>
        </p:nvSpPr>
        <p:spPr>
          <a:xfrm>
            <a:off x="812041" y="4497344"/>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descr="Checkbox Checked outline">
            <a:extLst>
              <a:ext uri="{FF2B5EF4-FFF2-40B4-BE49-F238E27FC236}">
                <a16:creationId xmlns:a16="http://schemas.microsoft.com/office/drawing/2014/main" id="{B07C8D8F-A2AE-5D3C-4623-8D700C5D00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3653528"/>
            <a:ext cx="340520" cy="340520"/>
          </a:xfrm>
          <a:prstGeom prst="rect">
            <a:avLst/>
          </a:prstGeom>
        </p:spPr>
      </p:pic>
      <p:pic>
        <p:nvPicPr>
          <p:cNvPr id="34" name="Graphic 33" descr="Checkbox Checked outline">
            <a:extLst>
              <a:ext uri="{FF2B5EF4-FFF2-40B4-BE49-F238E27FC236}">
                <a16:creationId xmlns:a16="http://schemas.microsoft.com/office/drawing/2014/main" id="{1B58AA8E-714C-EA23-D804-1CBD2800FE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4492647"/>
            <a:ext cx="340520" cy="340520"/>
          </a:xfrm>
          <a:prstGeom prst="rect">
            <a:avLst/>
          </a:prstGeom>
        </p:spPr>
      </p:pic>
      <p:sp>
        <p:nvSpPr>
          <p:cNvPr id="36" name="TextBox 35">
            <a:extLst>
              <a:ext uri="{FF2B5EF4-FFF2-40B4-BE49-F238E27FC236}">
                <a16:creationId xmlns:a16="http://schemas.microsoft.com/office/drawing/2014/main" id="{7A65E668-7AF8-21BE-9C87-F9FAD9C5AD23}"/>
              </a:ext>
            </a:extLst>
          </p:cNvPr>
          <p:cNvSpPr txBox="1"/>
          <p:nvPr/>
        </p:nvSpPr>
        <p:spPr>
          <a:xfrm>
            <a:off x="1122189" y="2632073"/>
            <a:ext cx="2224585" cy="261610"/>
          </a:xfrm>
          <a:prstGeom prst="rect">
            <a:avLst/>
          </a:prstGeom>
          <a:noFill/>
        </p:spPr>
        <p:txBody>
          <a:bodyPr wrap="square" rtlCol="0">
            <a:spAutoFit/>
          </a:bodyPr>
          <a:lstStyle/>
          <a:p>
            <a:r>
              <a:rPr lang="en-US" sz="1100" dirty="0"/>
              <a:t>Yes, I am 18 or older</a:t>
            </a:r>
          </a:p>
        </p:txBody>
      </p:sp>
      <p:sp>
        <p:nvSpPr>
          <p:cNvPr id="37" name="TextBox 36">
            <a:extLst>
              <a:ext uri="{FF2B5EF4-FFF2-40B4-BE49-F238E27FC236}">
                <a16:creationId xmlns:a16="http://schemas.microsoft.com/office/drawing/2014/main" id="{5E89D2AE-BF66-25C9-0105-075E4C1DA61C}"/>
              </a:ext>
            </a:extLst>
          </p:cNvPr>
          <p:cNvSpPr txBox="1"/>
          <p:nvPr/>
        </p:nvSpPr>
        <p:spPr>
          <a:xfrm>
            <a:off x="1122189" y="3698876"/>
            <a:ext cx="2224585" cy="261610"/>
          </a:xfrm>
          <a:prstGeom prst="rect">
            <a:avLst/>
          </a:prstGeom>
          <a:noFill/>
        </p:spPr>
        <p:txBody>
          <a:bodyPr wrap="square" rtlCol="0">
            <a:spAutoFit/>
          </a:bodyPr>
          <a:lstStyle/>
          <a:p>
            <a:r>
              <a:rPr lang="en-US" sz="1100" dirty="0"/>
              <a:t>I agree</a:t>
            </a:r>
          </a:p>
        </p:txBody>
      </p:sp>
      <p:sp>
        <p:nvSpPr>
          <p:cNvPr id="38" name="TextBox 37">
            <a:extLst>
              <a:ext uri="{FF2B5EF4-FFF2-40B4-BE49-F238E27FC236}">
                <a16:creationId xmlns:a16="http://schemas.microsoft.com/office/drawing/2014/main" id="{90B0DB52-1DC3-9D96-B145-9309DECC4B0A}"/>
              </a:ext>
            </a:extLst>
          </p:cNvPr>
          <p:cNvSpPr txBox="1"/>
          <p:nvPr/>
        </p:nvSpPr>
        <p:spPr>
          <a:xfrm>
            <a:off x="1122189" y="4526838"/>
            <a:ext cx="2224585" cy="261610"/>
          </a:xfrm>
          <a:prstGeom prst="rect">
            <a:avLst/>
          </a:prstGeom>
          <a:noFill/>
        </p:spPr>
        <p:txBody>
          <a:bodyPr wrap="square" rtlCol="0">
            <a:spAutoFit/>
          </a:bodyPr>
          <a:lstStyle/>
          <a:p>
            <a:r>
              <a:rPr lang="en-US" sz="1100" dirty="0"/>
              <a:t>Yes, you may contact me</a:t>
            </a:r>
          </a:p>
        </p:txBody>
      </p:sp>
      <p:sp>
        <p:nvSpPr>
          <p:cNvPr id="3" name="Google Shape;99;p14">
            <a:extLst>
              <a:ext uri="{FF2B5EF4-FFF2-40B4-BE49-F238E27FC236}">
                <a16:creationId xmlns:a16="http://schemas.microsoft.com/office/drawing/2014/main" id="{BAC30577-ECC6-2664-B638-8C4D053D3148}"/>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662246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80C3493-326E-E090-E4F3-412A207BA5D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CFB5FADF-0D18-2E17-C9DD-8E14CAF99627}"/>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4" name="Rectangle 3">
            <a:extLst>
              <a:ext uri="{FF2B5EF4-FFF2-40B4-BE49-F238E27FC236}">
                <a16:creationId xmlns:a16="http://schemas.microsoft.com/office/drawing/2014/main" id="{07DAEEB7-4F87-7065-111A-4FE61A4222EF}"/>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0693C4-6AD3-3603-1B9B-2ED2CB6EC889}"/>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A9CAF0EE-C7E4-7BE6-3BEE-459E7C181866}"/>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4E543C94-1F4E-D9B0-2601-8A2EFA9C70F8}"/>
              </a:ext>
            </a:extLst>
          </p:cNvPr>
          <p:cNvSpPr txBox="1"/>
          <p:nvPr/>
        </p:nvSpPr>
        <p:spPr>
          <a:xfrm>
            <a:off x="649356" y="1864728"/>
            <a:ext cx="4891633" cy="307777"/>
          </a:xfrm>
          <a:prstGeom prst="rect">
            <a:avLst/>
          </a:prstGeom>
          <a:noFill/>
        </p:spPr>
        <p:txBody>
          <a:bodyPr wrap="square" rtlCol="0">
            <a:spAutoFit/>
          </a:bodyPr>
          <a:lstStyle/>
          <a:p>
            <a:r>
              <a:rPr lang="en-US" b="1" dirty="0"/>
              <a:t>2. Contact Information</a:t>
            </a:r>
            <a:endParaRPr lang="en-US" dirty="0"/>
          </a:p>
        </p:txBody>
      </p:sp>
      <p:sp>
        <p:nvSpPr>
          <p:cNvPr id="2" name="TextBox 1">
            <a:extLst>
              <a:ext uri="{FF2B5EF4-FFF2-40B4-BE49-F238E27FC236}">
                <a16:creationId xmlns:a16="http://schemas.microsoft.com/office/drawing/2014/main" id="{BD6CBE85-9039-7CD0-10A8-4C3E1027F984}"/>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5FEB41C1-B0A6-38C7-767C-CCDC63A2A750}"/>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8FD0BDBA-E1D3-DAD3-2C8F-9ABE426405B7}"/>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D68080E-F656-95B4-9BE6-4A0D505416F9}"/>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E0149338-F365-79F3-8F56-80761F7CBB9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01F66CC-97E7-46AE-7C74-928723AE579F}"/>
              </a:ext>
            </a:extLst>
          </p:cNvPr>
          <p:cNvSpPr txBox="1"/>
          <p:nvPr/>
        </p:nvSpPr>
        <p:spPr>
          <a:xfrm>
            <a:off x="2306684" y="1332204"/>
            <a:ext cx="1253344" cy="307777"/>
          </a:xfrm>
          <a:prstGeom prst="rect">
            <a:avLst/>
          </a:prstGeom>
          <a:noFill/>
        </p:spPr>
        <p:txBody>
          <a:bodyPr wrap="square" rtlCol="0">
            <a:spAutoFit/>
          </a:bodyPr>
          <a:lstStyle/>
          <a:p>
            <a:r>
              <a:rPr lang="en-US" dirty="0"/>
              <a:t>5% Complete</a:t>
            </a:r>
          </a:p>
        </p:txBody>
      </p:sp>
      <p:sp>
        <p:nvSpPr>
          <p:cNvPr id="27" name="Rectangle: Rounded Corners 26">
            <a:extLst>
              <a:ext uri="{FF2B5EF4-FFF2-40B4-BE49-F238E27FC236}">
                <a16:creationId xmlns:a16="http://schemas.microsoft.com/office/drawing/2014/main" id="{05C1709E-4E4B-1E0B-4AA5-AB1BE322BEE0}"/>
              </a:ext>
            </a:extLst>
          </p:cNvPr>
          <p:cNvSpPr/>
          <p:nvPr/>
        </p:nvSpPr>
        <p:spPr>
          <a:xfrm>
            <a:off x="812041" y="2515214"/>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C299558-DC4B-F34A-0FD4-E20772043681}"/>
              </a:ext>
            </a:extLst>
          </p:cNvPr>
          <p:cNvSpPr txBox="1"/>
          <p:nvPr/>
        </p:nvSpPr>
        <p:spPr>
          <a:xfrm>
            <a:off x="723331" y="2186457"/>
            <a:ext cx="4817658" cy="2862322"/>
          </a:xfrm>
          <a:prstGeom prst="rect">
            <a:avLst/>
          </a:prstGeom>
          <a:noFill/>
        </p:spPr>
        <p:txBody>
          <a:bodyPr wrap="square">
            <a:spAutoFit/>
          </a:bodyPr>
          <a:lstStyle/>
          <a:p>
            <a:pPr lvl="3"/>
            <a:r>
              <a:rPr lang="en-US" sz="1200" b="1" dirty="0"/>
              <a:t>First Name</a:t>
            </a:r>
            <a:r>
              <a:rPr lang="en-US" sz="1200" b="1" dirty="0">
                <a:solidFill>
                  <a:srgbClr val="FF0000"/>
                </a:solidFill>
              </a:rPr>
              <a:t>*</a:t>
            </a:r>
          </a:p>
          <a:p>
            <a:pPr lvl="3"/>
            <a:endParaRPr lang="en-US" sz="1200" b="1" dirty="0"/>
          </a:p>
          <a:p>
            <a:pPr lvl="3"/>
            <a:endParaRPr lang="en-US" sz="1200" b="1" dirty="0"/>
          </a:p>
          <a:p>
            <a:pPr lvl="3"/>
            <a:endParaRPr lang="en-US" sz="1200" b="1" dirty="0"/>
          </a:p>
          <a:p>
            <a:pPr lvl="3"/>
            <a:r>
              <a:rPr lang="en-US" sz="1200" b="1" dirty="0"/>
              <a:t>Last Name</a:t>
            </a:r>
            <a:r>
              <a:rPr lang="en-US" sz="1200" b="1" dirty="0">
                <a:solidFill>
                  <a:srgbClr val="FF0000"/>
                </a:solidFill>
              </a:rPr>
              <a:t> *</a:t>
            </a:r>
            <a:endParaRPr lang="en-US" sz="1200" b="1" dirty="0"/>
          </a:p>
          <a:p>
            <a:pPr lvl="3"/>
            <a:endParaRPr lang="en-US" sz="1200" b="1" dirty="0"/>
          </a:p>
          <a:p>
            <a:pPr lvl="3"/>
            <a:endParaRPr lang="en-US" sz="1200" b="1" dirty="0"/>
          </a:p>
          <a:p>
            <a:pPr lvl="3"/>
            <a:endParaRPr lang="en-US" sz="1200" b="1" dirty="0"/>
          </a:p>
          <a:p>
            <a:pPr lvl="3"/>
            <a:r>
              <a:rPr lang="en-US" sz="1200" b="1" dirty="0"/>
              <a:t>Email Address</a:t>
            </a:r>
            <a:r>
              <a:rPr lang="en-US" sz="1200" b="1" dirty="0">
                <a:solidFill>
                  <a:srgbClr val="FF0000"/>
                </a:solidFill>
              </a:rPr>
              <a:t> *</a:t>
            </a:r>
            <a:endParaRPr lang="en-US" sz="1200" b="1" dirty="0"/>
          </a:p>
          <a:p>
            <a:pPr lvl="3"/>
            <a:endParaRPr lang="en-US" sz="1200" b="1" dirty="0"/>
          </a:p>
          <a:p>
            <a:pPr lvl="3"/>
            <a:endParaRPr lang="en-US" sz="1200" b="1" dirty="0"/>
          </a:p>
          <a:p>
            <a:pPr lvl="3"/>
            <a:endParaRPr lang="en-US" sz="1200" b="1" dirty="0"/>
          </a:p>
          <a:p>
            <a:pPr lvl="3"/>
            <a:r>
              <a:rPr lang="en-US" sz="1200" b="1" dirty="0"/>
              <a:t>Phone Number (optional)</a:t>
            </a:r>
          </a:p>
          <a:p>
            <a:pPr lvl="3"/>
            <a:endParaRPr lang="en-US" sz="1200" b="1" dirty="0"/>
          </a:p>
          <a:p>
            <a:pPr lvl="3"/>
            <a:r>
              <a:rPr lang="en-US" sz="1200" b="1" dirty="0"/>
              <a:t> </a:t>
            </a:r>
          </a:p>
        </p:txBody>
      </p:sp>
      <p:sp>
        <p:nvSpPr>
          <p:cNvPr id="30" name="Rectangle: Rounded Corners 29">
            <a:extLst>
              <a:ext uri="{FF2B5EF4-FFF2-40B4-BE49-F238E27FC236}">
                <a16:creationId xmlns:a16="http://schemas.microsoft.com/office/drawing/2014/main" id="{E138EF6A-EAD5-87BA-8A35-8704008BB412}"/>
              </a:ext>
            </a:extLst>
          </p:cNvPr>
          <p:cNvSpPr/>
          <p:nvPr/>
        </p:nvSpPr>
        <p:spPr>
          <a:xfrm>
            <a:off x="812041" y="3230029"/>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ECBBC9C1-94D7-E67A-E76E-33B44B4DDB9F}"/>
              </a:ext>
            </a:extLst>
          </p:cNvPr>
          <p:cNvSpPr/>
          <p:nvPr/>
        </p:nvSpPr>
        <p:spPr>
          <a:xfrm>
            <a:off x="812041" y="4664817"/>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AC3E9047-BAF2-E180-6152-3602C0EF006A}"/>
              </a:ext>
            </a:extLst>
          </p:cNvPr>
          <p:cNvSpPr/>
          <p:nvPr/>
        </p:nvSpPr>
        <p:spPr>
          <a:xfrm>
            <a:off x="814314" y="3967352"/>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99;p14">
            <a:extLst>
              <a:ext uri="{FF2B5EF4-FFF2-40B4-BE49-F238E27FC236}">
                <a16:creationId xmlns:a16="http://schemas.microsoft.com/office/drawing/2014/main" id="{6E09A931-A5E6-F1CB-FC99-0D436FAE72F9}"/>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946512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D52F181-7696-A64E-CB57-F98D825E5B1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B1A7FB9-1FFF-04D8-7567-B6E37B4B398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4" name="Rectangle 3">
            <a:extLst>
              <a:ext uri="{FF2B5EF4-FFF2-40B4-BE49-F238E27FC236}">
                <a16:creationId xmlns:a16="http://schemas.microsoft.com/office/drawing/2014/main" id="{DB79BDD5-6A46-E48F-E875-71800547A06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CCCFF1-32E2-FD0F-AB5C-9562FA087D4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FE5A2481-9FF1-B30D-98FE-EAA146A9293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5ED5A4D-A14B-508C-F8AA-FA76E75B4C18}"/>
              </a:ext>
            </a:extLst>
          </p:cNvPr>
          <p:cNvSpPr txBox="1"/>
          <p:nvPr/>
        </p:nvSpPr>
        <p:spPr>
          <a:xfrm>
            <a:off x="649356" y="1932968"/>
            <a:ext cx="4891633" cy="738664"/>
          </a:xfrm>
          <a:prstGeom prst="rect">
            <a:avLst/>
          </a:prstGeom>
          <a:noFill/>
        </p:spPr>
        <p:txBody>
          <a:bodyPr wrap="square" rtlCol="0">
            <a:spAutoFit/>
          </a:bodyPr>
          <a:lstStyle/>
          <a:p>
            <a:r>
              <a:rPr lang="en-US" b="1" dirty="0"/>
              <a:t>3. Which of the following best describes your race or ethnicity? (Select all that apply)</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BF305AD0-C117-6F53-2B05-62E3EBEE8740}"/>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29712D4-8B46-310B-6538-D83E06EBA90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8ED60F75-8927-5BAC-71F5-72E97595EA9A}"/>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4FFA8AA-DA3F-92EA-FBD8-FC0FFCBFB38C}"/>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45F7504D-2F30-3C3E-19E9-A8A9D3E7E06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0BB74A2-312F-BA27-2EAF-FBE5E14F08E6}"/>
              </a:ext>
            </a:extLst>
          </p:cNvPr>
          <p:cNvSpPr txBox="1"/>
          <p:nvPr/>
        </p:nvSpPr>
        <p:spPr>
          <a:xfrm>
            <a:off x="2306683" y="1332204"/>
            <a:ext cx="1391859" cy="307777"/>
          </a:xfrm>
          <a:prstGeom prst="rect">
            <a:avLst/>
          </a:prstGeom>
          <a:noFill/>
        </p:spPr>
        <p:txBody>
          <a:bodyPr wrap="square" rtlCol="0">
            <a:spAutoFit/>
          </a:bodyPr>
          <a:lstStyle/>
          <a:p>
            <a:r>
              <a:rPr lang="en-US" dirty="0"/>
              <a:t>11% Complete</a:t>
            </a:r>
          </a:p>
        </p:txBody>
      </p:sp>
      <p:pic>
        <p:nvPicPr>
          <p:cNvPr id="17" name="Graphic 16" descr="Checkbox Checked outline">
            <a:extLst>
              <a:ext uri="{FF2B5EF4-FFF2-40B4-BE49-F238E27FC236}">
                <a16:creationId xmlns:a16="http://schemas.microsoft.com/office/drawing/2014/main" id="{149E1A4F-BCDF-DEB2-B83A-4977B67E65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446849"/>
            <a:ext cx="340520" cy="340520"/>
          </a:xfrm>
          <a:prstGeom prst="rect">
            <a:avLst/>
          </a:prstGeom>
        </p:spPr>
      </p:pic>
      <p:sp>
        <p:nvSpPr>
          <p:cNvPr id="18" name="Rectangle 17">
            <a:extLst>
              <a:ext uri="{FF2B5EF4-FFF2-40B4-BE49-F238E27FC236}">
                <a16:creationId xmlns:a16="http://schemas.microsoft.com/office/drawing/2014/main" id="{7532FADC-6127-593A-9856-BC9DCF999369}"/>
              </a:ext>
            </a:extLst>
          </p:cNvPr>
          <p:cNvSpPr/>
          <p:nvPr/>
        </p:nvSpPr>
        <p:spPr>
          <a:xfrm>
            <a:off x="710023" y="291501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B95B6FA-B922-8A28-0CBF-F3E34C147748}"/>
              </a:ext>
            </a:extLst>
          </p:cNvPr>
          <p:cNvSpPr/>
          <p:nvPr/>
        </p:nvSpPr>
        <p:spPr>
          <a:xfrm>
            <a:off x="710023" y="327212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0B68854-6FEF-D4E2-E567-760CEF9A13EE}"/>
              </a:ext>
            </a:extLst>
          </p:cNvPr>
          <p:cNvSpPr/>
          <p:nvPr/>
        </p:nvSpPr>
        <p:spPr>
          <a:xfrm>
            <a:off x="710023" y="398636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292FFC8-26ED-D20D-7877-992F724C65A9}"/>
              </a:ext>
            </a:extLst>
          </p:cNvPr>
          <p:cNvSpPr txBox="1"/>
          <p:nvPr/>
        </p:nvSpPr>
        <p:spPr>
          <a:xfrm>
            <a:off x="990032" y="2463609"/>
            <a:ext cx="6097136" cy="2523768"/>
          </a:xfrm>
          <a:prstGeom prst="rect">
            <a:avLst/>
          </a:prstGeom>
          <a:noFill/>
        </p:spPr>
        <p:txBody>
          <a:bodyPr wrap="square">
            <a:spAutoFit/>
          </a:bodyPr>
          <a:lstStyle/>
          <a:p>
            <a:pPr lvl="3">
              <a:spcBef>
                <a:spcPts val="1200"/>
              </a:spcBef>
            </a:pPr>
            <a:r>
              <a:rPr lang="en-US" dirty="0"/>
              <a:t>White</a:t>
            </a:r>
          </a:p>
          <a:p>
            <a:pPr lvl="3">
              <a:spcBef>
                <a:spcPts val="1200"/>
              </a:spcBef>
            </a:pPr>
            <a:r>
              <a:rPr lang="en-US" dirty="0"/>
              <a:t>Black or African American</a:t>
            </a:r>
          </a:p>
          <a:p>
            <a:pPr lvl="3">
              <a:spcBef>
                <a:spcPts val="1200"/>
              </a:spcBef>
            </a:pPr>
            <a:r>
              <a:rPr lang="en-US" dirty="0"/>
              <a:t>American Indian or Alaska Native</a:t>
            </a:r>
          </a:p>
          <a:p>
            <a:pPr lvl="3">
              <a:spcBef>
                <a:spcPts val="1200"/>
              </a:spcBef>
            </a:pPr>
            <a:r>
              <a:rPr lang="en-US" dirty="0"/>
              <a:t>Hispanic or Latino</a:t>
            </a:r>
          </a:p>
          <a:p>
            <a:pPr lvl="3">
              <a:spcBef>
                <a:spcPts val="1200"/>
              </a:spcBef>
            </a:pPr>
            <a:r>
              <a:rPr lang="en-US" dirty="0"/>
              <a:t>Asian</a:t>
            </a:r>
          </a:p>
          <a:p>
            <a:pPr lvl="3">
              <a:spcBef>
                <a:spcPts val="1200"/>
              </a:spcBef>
            </a:pPr>
            <a:r>
              <a:rPr lang="en-US" dirty="0"/>
              <a:t>Native Hawaiian or Pacific Islander</a:t>
            </a:r>
          </a:p>
          <a:p>
            <a:pPr lvl="3">
              <a:spcBef>
                <a:spcPts val="1200"/>
              </a:spcBef>
            </a:pPr>
            <a:r>
              <a:rPr lang="en-US" dirty="0"/>
              <a:t>Some other race (specify)</a:t>
            </a:r>
          </a:p>
        </p:txBody>
      </p:sp>
      <p:sp>
        <p:nvSpPr>
          <p:cNvPr id="24" name="Rectangle 23">
            <a:extLst>
              <a:ext uri="{FF2B5EF4-FFF2-40B4-BE49-F238E27FC236}">
                <a16:creationId xmlns:a16="http://schemas.microsoft.com/office/drawing/2014/main" id="{93C87714-7A2C-38EB-CBD9-B6D77BD8FAAF}"/>
              </a:ext>
            </a:extLst>
          </p:cNvPr>
          <p:cNvSpPr/>
          <p:nvPr/>
        </p:nvSpPr>
        <p:spPr>
          <a:xfrm>
            <a:off x="713361" y="436017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CFFEDA-3483-6D09-62F4-F1A05FBEAA42}"/>
              </a:ext>
            </a:extLst>
          </p:cNvPr>
          <p:cNvSpPr/>
          <p:nvPr/>
        </p:nvSpPr>
        <p:spPr>
          <a:xfrm>
            <a:off x="716699" y="4733991"/>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59A2DCF0-DE1F-1BB3-B2A7-A1B67DB2C8F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pic>
        <p:nvPicPr>
          <p:cNvPr id="9" name="Graphic 8" descr="Checkbox Checked outline">
            <a:extLst>
              <a:ext uri="{FF2B5EF4-FFF2-40B4-BE49-F238E27FC236}">
                <a16:creationId xmlns:a16="http://schemas.microsoft.com/office/drawing/2014/main" id="{2C181D84-AD1D-BAA3-F390-F9117413F0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97" y="3520275"/>
            <a:ext cx="340520" cy="340520"/>
          </a:xfrm>
          <a:prstGeom prst="rect">
            <a:avLst/>
          </a:prstGeom>
        </p:spPr>
      </p:pic>
    </p:spTree>
    <p:extLst>
      <p:ext uri="{BB962C8B-B14F-4D97-AF65-F5344CB8AC3E}">
        <p14:creationId xmlns:p14="http://schemas.microsoft.com/office/powerpoint/2010/main" val="237708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A159BD30-72F4-892B-FCB7-8101C3ED4F46}"/>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92E55242-8F98-C368-4B5C-89CE92CF38DE}"/>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4" name="Rectangle 3">
            <a:extLst>
              <a:ext uri="{FF2B5EF4-FFF2-40B4-BE49-F238E27FC236}">
                <a16:creationId xmlns:a16="http://schemas.microsoft.com/office/drawing/2014/main" id="{777F02D4-24A1-7F30-D73F-24BCCDCC197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1B9AB3-CC68-08E7-3B26-12B27AC4497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37994381-4AA3-49C8-5252-74CFD3BA7D29}"/>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B83BF4CE-7787-EF8D-E5CB-788E9CAED78C}"/>
              </a:ext>
            </a:extLst>
          </p:cNvPr>
          <p:cNvSpPr txBox="1"/>
          <p:nvPr/>
        </p:nvSpPr>
        <p:spPr>
          <a:xfrm>
            <a:off x="649356" y="2035328"/>
            <a:ext cx="4891633" cy="523220"/>
          </a:xfrm>
          <a:prstGeom prst="rect">
            <a:avLst/>
          </a:prstGeom>
          <a:noFill/>
        </p:spPr>
        <p:txBody>
          <a:bodyPr wrap="square" rtlCol="0">
            <a:spAutoFit/>
          </a:bodyPr>
          <a:lstStyle/>
          <a:p>
            <a:r>
              <a:rPr lang="en-US" b="1" dirty="0"/>
              <a:t>4. Enter your age (required)</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AAA007A-1298-D558-E687-3D820F3D36A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EAA9565-D8FF-2468-90CB-6EF4B88087CB}"/>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30DCC44-6F28-6D3F-0444-E7258D97E209}"/>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2C50CEF-36CC-A052-BEA5-472A450DD402}"/>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1399AEC-F00D-A0BD-C386-71621256054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B0B1890-2D7E-C61B-F38E-4AC6A3501073}"/>
              </a:ext>
            </a:extLst>
          </p:cNvPr>
          <p:cNvSpPr txBox="1"/>
          <p:nvPr/>
        </p:nvSpPr>
        <p:spPr>
          <a:xfrm>
            <a:off x="2306683" y="1332204"/>
            <a:ext cx="1425979" cy="307777"/>
          </a:xfrm>
          <a:prstGeom prst="rect">
            <a:avLst/>
          </a:prstGeom>
          <a:noFill/>
        </p:spPr>
        <p:txBody>
          <a:bodyPr wrap="square" rtlCol="0">
            <a:spAutoFit/>
          </a:bodyPr>
          <a:lstStyle/>
          <a:p>
            <a:r>
              <a:rPr lang="en-US" dirty="0"/>
              <a:t>16% Complete</a:t>
            </a:r>
          </a:p>
        </p:txBody>
      </p:sp>
      <p:sp>
        <p:nvSpPr>
          <p:cNvPr id="3" name="Rectangle: Rounded Corners 2">
            <a:extLst>
              <a:ext uri="{FF2B5EF4-FFF2-40B4-BE49-F238E27FC236}">
                <a16:creationId xmlns:a16="http://schemas.microsoft.com/office/drawing/2014/main" id="{9AA98C00-4A26-01D7-E758-D1B277053714}"/>
              </a:ext>
            </a:extLst>
          </p:cNvPr>
          <p:cNvSpPr/>
          <p:nvPr/>
        </p:nvSpPr>
        <p:spPr>
          <a:xfrm>
            <a:off x="764275" y="2422338"/>
            <a:ext cx="3835020"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5C522015-6774-4BA5-0E32-579D028C0299}"/>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75885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F195976-2BAB-C95F-AB07-C957FA25800F}"/>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FCF21C8F-BCE4-AA6A-5160-ABA95AA2EC6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Rectangle 3">
            <a:extLst>
              <a:ext uri="{FF2B5EF4-FFF2-40B4-BE49-F238E27FC236}">
                <a16:creationId xmlns:a16="http://schemas.microsoft.com/office/drawing/2014/main" id="{B3E36D78-944D-2F01-C4ED-000D2828CF60}"/>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791F9B3-CF81-D7EE-D5F7-7951A83AEE5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4C3473A4-B845-6E5A-B124-F2DF707281EA}"/>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C878B380-03D6-EAB1-A2A7-BAC54E8163A7}"/>
              </a:ext>
            </a:extLst>
          </p:cNvPr>
          <p:cNvSpPr txBox="1"/>
          <p:nvPr/>
        </p:nvSpPr>
        <p:spPr>
          <a:xfrm>
            <a:off x="649356" y="2035328"/>
            <a:ext cx="4891633" cy="523220"/>
          </a:xfrm>
          <a:prstGeom prst="rect">
            <a:avLst/>
          </a:prstGeom>
          <a:noFill/>
        </p:spPr>
        <p:txBody>
          <a:bodyPr wrap="square" rtlCol="0">
            <a:spAutoFit/>
          </a:bodyPr>
          <a:lstStyle/>
          <a:p>
            <a:r>
              <a:rPr lang="en-US" b="1" dirty="0"/>
              <a:t>5. Enter your zip code (required)</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D61559A-EB42-42A4-EAA8-2F1A2DC13036}"/>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FADB4310-C59E-6DE1-A20F-456557E0AE7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6BFAF365-5AB6-59A8-6E10-52E048728D46}"/>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08CB8FF-1CC4-A09A-22D2-EBC639915F52}"/>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566DDC6C-8544-41FC-073B-22E27E8B12D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834FDB9-F806-8715-8D75-95EF0C4090DF}"/>
              </a:ext>
            </a:extLst>
          </p:cNvPr>
          <p:cNvSpPr txBox="1"/>
          <p:nvPr/>
        </p:nvSpPr>
        <p:spPr>
          <a:xfrm>
            <a:off x="2306684" y="1332204"/>
            <a:ext cx="1524926" cy="307777"/>
          </a:xfrm>
          <a:prstGeom prst="rect">
            <a:avLst/>
          </a:prstGeom>
          <a:noFill/>
        </p:spPr>
        <p:txBody>
          <a:bodyPr wrap="square" rtlCol="0">
            <a:spAutoFit/>
          </a:bodyPr>
          <a:lstStyle/>
          <a:p>
            <a:r>
              <a:rPr lang="en-US" dirty="0"/>
              <a:t>21% Complete</a:t>
            </a:r>
          </a:p>
        </p:txBody>
      </p:sp>
      <p:sp>
        <p:nvSpPr>
          <p:cNvPr id="3" name="Rectangle: Rounded Corners 2">
            <a:extLst>
              <a:ext uri="{FF2B5EF4-FFF2-40B4-BE49-F238E27FC236}">
                <a16:creationId xmlns:a16="http://schemas.microsoft.com/office/drawing/2014/main" id="{350B9DAF-5474-5CDA-9FC7-418FAA3F3603}"/>
              </a:ext>
            </a:extLst>
          </p:cNvPr>
          <p:cNvSpPr/>
          <p:nvPr/>
        </p:nvSpPr>
        <p:spPr>
          <a:xfrm>
            <a:off x="764275" y="2422338"/>
            <a:ext cx="3835020"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BBFA658-EB45-DE2D-4866-B155113D3D42}"/>
              </a:ext>
            </a:extLst>
          </p:cNvPr>
          <p:cNvSpPr/>
          <p:nvPr/>
        </p:nvSpPr>
        <p:spPr>
          <a:xfrm>
            <a:off x="6005015" y="2210938"/>
            <a:ext cx="156949" cy="150126"/>
          </a:xfrm>
          <a:prstGeom prst="ellipse">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CA69059F-280C-D734-6E0E-A7325507688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65270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362FC5C-440E-5A48-929C-62E703919A34}"/>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CC716FD-872E-333A-9B33-3986379B1A1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4" name="Rectangle 3">
            <a:extLst>
              <a:ext uri="{FF2B5EF4-FFF2-40B4-BE49-F238E27FC236}">
                <a16:creationId xmlns:a16="http://schemas.microsoft.com/office/drawing/2014/main" id="{2BC5FB3F-3A8D-720D-D86A-81C32C18B2A8}"/>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ACAEEF8-2F9D-18B6-45B4-61EE6E78D8C9}"/>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0BE3B50-A7D3-4CA0-43E1-A8089742B901}"/>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F5B6ED9-3504-B32C-EA71-AB9EBF962C26}"/>
              </a:ext>
            </a:extLst>
          </p:cNvPr>
          <p:cNvSpPr txBox="1"/>
          <p:nvPr/>
        </p:nvSpPr>
        <p:spPr>
          <a:xfrm>
            <a:off x="649356" y="1932968"/>
            <a:ext cx="4891633" cy="523220"/>
          </a:xfrm>
          <a:prstGeom prst="rect">
            <a:avLst/>
          </a:prstGeom>
          <a:noFill/>
        </p:spPr>
        <p:txBody>
          <a:bodyPr wrap="square" rtlCol="0">
            <a:spAutoFit/>
          </a:bodyPr>
          <a:lstStyle/>
          <a:p>
            <a:r>
              <a:rPr lang="en-US" b="1" dirty="0"/>
              <a:t>6. What is your household income?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0F19DF0E-6E06-344A-C787-2AA942E15485}"/>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8A0215C4-AFE6-D53A-BCDA-61064DE086A6}"/>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14AC8C5-527F-3B01-2A5D-35ACECEDE7E0}"/>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8413E43-DC48-6202-3B5B-71A41185B270}"/>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78691DE-5874-4300-273D-FDC32D6E2A3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8491C60-904F-7BA8-713A-B675B035A86D}"/>
              </a:ext>
            </a:extLst>
          </p:cNvPr>
          <p:cNvSpPr txBox="1"/>
          <p:nvPr/>
        </p:nvSpPr>
        <p:spPr>
          <a:xfrm>
            <a:off x="2306683" y="1332204"/>
            <a:ext cx="1637519" cy="307777"/>
          </a:xfrm>
          <a:prstGeom prst="rect">
            <a:avLst/>
          </a:prstGeom>
          <a:noFill/>
        </p:spPr>
        <p:txBody>
          <a:bodyPr wrap="square" rtlCol="0">
            <a:spAutoFit/>
          </a:bodyPr>
          <a:lstStyle/>
          <a:p>
            <a:r>
              <a:rPr lang="en-US" dirty="0"/>
              <a:t>26% Complete</a:t>
            </a:r>
          </a:p>
        </p:txBody>
      </p:sp>
      <p:pic>
        <p:nvPicPr>
          <p:cNvPr id="17" name="Graphic 16" descr="Checkbox Checked outline">
            <a:extLst>
              <a:ext uri="{FF2B5EF4-FFF2-40B4-BE49-F238E27FC236}">
                <a16:creationId xmlns:a16="http://schemas.microsoft.com/office/drawing/2014/main" id="{170E894C-D927-2309-5E4A-7381B9133E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317193"/>
            <a:ext cx="340520" cy="340520"/>
          </a:xfrm>
          <a:prstGeom prst="rect">
            <a:avLst/>
          </a:prstGeom>
        </p:spPr>
      </p:pic>
      <p:sp>
        <p:nvSpPr>
          <p:cNvPr id="18" name="Rectangle 17">
            <a:extLst>
              <a:ext uri="{FF2B5EF4-FFF2-40B4-BE49-F238E27FC236}">
                <a16:creationId xmlns:a16="http://schemas.microsoft.com/office/drawing/2014/main" id="{9C39BE3A-E104-7EEC-37DF-485BAB92EF0C}"/>
              </a:ext>
            </a:extLst>
          </p:cNvPr>
          <p:cNvSpPr/>
          <p:nvPr/>
        </p:nvSpPr>
        <p:spPr>
          <a:xfrm>
            <a:off x="710023" y="2785354"/>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65B8EA7-D54E-8A0A-0503-586CAA58998B}"/>
              </a:ext>
            </a:extLst>
          </p:cNvPr>
          <p:cNvSpPr/>
          <p:nvPr/>
        </p:nvSpPr>
        <p:spPr>
          <a:xfrm>
            <a:off x="710023" y="3142473"/>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93B130B-5B56-1B1C-D2B5-D3A87BCD4E66}"/>
              </a:ext>
            </a:extLst>
          </p:cNvPr>
          <p:cNvSpPr/>
          <p:nvPr/>
        </p:nvSpPr>
        <p:spPr>
          <a:xfrm>
            <a:off x="710023" y="349959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4B3A9B0-A8F6-E738-88A7-38BDACFDA7A8}"/>
              </a:ext>
            </a:extLst>
          </p:cNvPr>
          <p:cNvSpPr/>
          <p:nvPr/>
        </p:nvSpPr>
        <p:spPr>
          <a:xfrm>
            <a:off x="710023" y="3856711"/>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C43CB1E-F14C-F77C-13B5-19F2278534B4}"/>
              </a:ext>
            </a:extLst>
          </p:cNvPr>
          <p:cNvSpPr txBox="1"/>
          <p:nvPr/>
        </p:nvSpPr>
        <p:spPr>
          <a:xfrm>
            <a:off x="990032" y="2333953"/>
            <a:ext cx="6097136" cy="1785104"/>
          </a:xfrm>
          <a:prstGeom prst="rect">
            <a:avLst/>
          </a:prstGeom>
          <a:noFill/>
        </p:spPr>
        <p:txBody>
          <a:bodyPr wrap="square">
            <a:spAutoFit/>
          </a:bodyPr>
          <a:lstStyle/>
          <a:p>
            <a:pPr lvl="3">
              <a:spcBef>
                <a:spcPts val="1200"/>
              </a:spcBef>
            </a:pPr>
            <a:r>
              <a:rPr lang="en-US" dirty="0"/>
              <a:t>Under $50,000</a:t>
            </a:r>
          </a:p>
          <a:p>
            <a:pPr lvl="3">
              <a:spcBef>
                <a:spcPts val="1200"/>
              </a:spcBef>
            </a:pPr>
            <a:r>
              <a:rPr lang="en-US" dirty="0"/>
              <a:t>$50,000 to $99,999</a:t>
            </a:r>
          </a:p>
          <a:p>
            <a:pPr lvl="3">
              <a:spcBef>
                <a:spcPts val="1200"/>
              </a:spcBef>
            </a:pPr>
            <a:r>
              <a:rPr lang="en-US" dirty="0"/>
              <a:t>$100,000 to $149,999</a:t>
            </a:r>
          </a:p>
          <a:p>
            <a:pPr lvl="3">
              <a:spcBef>
                <a:spcPts val="1200"/>
              </a:spcBef>
            </a:pPr>
            <a:r>
              <a:rPr lang="en-US" dirty="0"/>
              <a:t>$150,000 or more</a:t>
            </a:r>
          </a:p>
          <a:p>
            <a:pPr lvl="3">
              <a:spcBef>
                <a:spcPts val="1200"/>
              </a:spcBef>
            </a:pPr>
            <a:r>
              <a:rPr lang="en-US" dirty="0"/>
              <a:t>Prefer not to say</a:t>
            </a:r>
          </a:p>
        </p:txBody>
      </p:sp>
      <p:sp>
        <p:nvSpPr>
          <p:cNvPr id="3" name="Google Shape;99;p14">
            <a:extLst>
              <a:ext uri="{FF2B5EF4-FFF2-40B4-BE49-F238E27FC236}">
                <a16:creationId xmlns:a16="http://schemas.microsoft.com/office/drawing/2014/main" id="{14114928-2017-6057-5437-3A6C0CED9CFF}"/>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147161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55BD158-732C-5B3F-95F7-E0FDEBFB690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228788D-8927-DE9E-9121-91A52F1F8C40}"/>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4" name="Rectangle 3">
            <a:extLst>
              <a:ext uri="{FF2B5EF4-FFF2-40B4-BE49-F238E27FC236}">
                <a16:creationId xmlns:a16="http://schemas.microsoft.com/office/drawing/2014/main" id="{32E29819-18AF-CDAC-682E-FB104485308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0086F1-5CF6-1190-BA24-64F8CD0834B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C06678E8-471B-E574-3C68-F7E5171E2344}"/>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F8CC343B-4054-E4CC-60CD-85329063E5A4}"/>
              </a:ext>
            </a:extLst>
          </p:cNvPr>
          <p:cNvSpPr txBox="1"/>
          <p:nvPr/>
        </p:nvSpPr>
        <p:spPr>
          <a:xfrm>
            <a:off x="649356" y="2035328"/>
            <a:ext cx="4891633" cy="523220"/>
          </a:xfrm>
          <a:prstGeom prst="rect">
            <a:avLst/>
          </a:prstGeom>
          <a:noFill/>
        </p:spPr>
        <p:txBody>
          <a:bodyPr wrap="square" rtlCol="0">
            <a:spAutoFit/>
          </a:bodyPr>
          <a:lstStyle/>
          <a:p>
            <a:r>
              <a:rPr lang="en-US" b="1" dirty="0"/>
              <a:t>7. What is your gender?</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F4F700C-5A73-30DC-FC18-DD7080321E13}"/>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51B84EF-90BF-0DCE-72A2-90910EDCE7C6}"/>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A5C32A1E-CC95-1999-D6D5-4B32B0D09FEA}"/>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1CA7B30-E5AF-D9EC-4E69-2C92D5DB53E9}"/>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64F6674B-A6D8-9840-3313-CC119D38DCD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BD9AE59-008F-E2CC-5E80-5C5510A9677D}"/>
              </a:ext>
            </a:extLst>
          </p:cNvPr>
          <p:cNvSpPr txBox="1"/>
          <p:nvPr/>
        </p:nvSpPr>
        <p:spPr>
          <a:xfrm>
            <a:off x="2306684" y="1332204"/>
            <a:ext cx="1524926" cy="307777"/>
          </a:xfrm>
          <a:prstGeom prst="rect">
            <a:avLst/>
          </a:prstGeom>
          <a:noFill/>
        </p:spPr>
        <p:txBody>
          <a:bodyPr wrap="square" rtlCol="0">
            <a:spAutoFit/>
          </a:bodyPr>
          <a:lstStyle/>
          <a:p>
            <a:r>
              <a:rPr lang="en-US" dirty="0"/>
              <a:t>32% Complete</a:t>
            </a:r>
          </a:p>
        </p:txBody>
      </p:sp>
      <p:pic>
        <p:nvPicPr>
          <p:cNvPr id="12" name="Graphic 11" descr="Checkbox Checked outline">
            <a:extLst>
              <a:ext uri="{FF2B5EF4-FFF2-40B4-BE49-F238E27FC236}">
                <a16:creationId xmlns:a16="http://schemas.microsoft.com/office/drawing/2014/main" id="{195F9430-AAF2-D2BA-7B4A-D3AC651A4D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446849"/>
            <a:ext cx="340520" cy="340520"/>
          </a:xfrm>
          <a:prstGeom prst="rect">
            <a:avLst/>
          </a:prstGeom>
        </p:spPr>
      </p:pic>
      <p:sp>
        <p:nvSpPr>
          <p:cNvPr id="17" name="TextBox 16">
            <a:extLst>
              <a:ext uri="{FF2B5EF4-FFF2-40B4-BE49-F238E27FC236}">
                <a16:creationId xmlns:a16="http://schemas.microsoft.com/office/drawing/2014/main" id="{DD9DA8CE-7E41-2C47-A170-A587E29AA2EB}"/>
              </a:ext>
            </a:extLst>
          </p:cNvPr>
          <p:cNvSpPr txBox="1"/>
          <p:nvPr/>
        </p:nvSpPr>
        <p:spPr>
          <a:xfrm>
            <a:off x="890856" y="2468697"/>
            <a:ext cx="3633377" cy="1415772"/>
          </a:xfrm>
          <a:prstGeom prst="rect">
            <a:avLst/>
          </a:prstGeom>
          <a:noFill/>
        </p:spPr>
        <p:txBody>
          <a:bodyPr wrap="square">
            <a:spAutoFit/>
          </a:bodyPr>
          <a:lstStyle/>
          <a:p>
            <a:pPr lvl="3">
              <a:spcAft>
                <a:spcPts val="1200"/>
              </a:spcAft>
            </a:pPr>
            <a:r>
              <a:rPr lang="en-US" dirty="0"/>
              <a:t>Male</a:t>
            </a:r>
          </a:p>
          <a:p>
            <a:pPr lvl="3">
              <a:spcAft>
                <a:spcPts val="1200"/>
              </a:spcAft>
            </a:pPr>
            <a:r>
              <a:rPr lang="en-US" dirty="0"/>
              <a:t>Female</a:t>
            </a:r>
          </a:p>
          <a:p>
            <a:pPr lvl="3">
              <a:spcAft>
                <a:spcPts val="1200"/>
              </a:spcAft>
            </a:pPr>
            <a:r>
              <a:rPr lang="en-US" dirty="0"/>
              <a:t>Other (specify)</a:t>
            </a:r>
          </a:p>
          <a:p>
            <a:pPr lvl="3">
              <a:spcAft>
                <a:spcPts val="1200"/>
              </a:spcAft>
            </a:pPr>
            <a:r>
              <a:rPr lang="en-US" dirty="0"/>
              <a:t>Prefer not to say</a:t>
            </a:r>
          </a:p>
        </p:txBody>
      </p:sp>
      <p:sp>
        <p:nvSpPr>
          <p:cNvPr id="21" name="Rectangle 20">
            <a:extLst>
              <a:ext uri="{FF2B5EF4-FFF2-40B4-BE49-F238E27FC236}">
                <a16:creationId xmlns:a16="http://schemas.microsoft.com/office/drawing/2014/main" id="{97307602-3FCB-89F0-36F0-FD981648ED77}"/>
              </a:ext>
            </a:extLst>
          </p:cNvPr>
          <p:cNvSpPr/>
          <p:nvPr/>
        </p:nvSpPr>
        <p:spPr>
          <a:xfrm>
            <a:off x="710023" y="291501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6160167-1991-1EC3-5099-091CEF485390}"/>
              </a:ext>
            </a:extLst>
          </p:cNvPr>
          <p:cNvSpPr/>
          <p:nvPr/>
        </p:nvSpPr>
        <p:spPr>
          <a:xfrm>
            <a:off x="710023" y="327212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E77DAFE-DE7F-AB61-3A2E-61C5F95E231F}"/>
              </a:ext>
            </a:extLst>
          </p:cNvPr>
          <p:cNvSpPr/>
          <p:nvPr/>
        </p:nvSpPr>
        <p:spPr>
          <a:xfrm>
            <a:off x="710023" y="362924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9EA859A1-EB45-0032-0D07-A819C6B76E05}"/>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923424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3CCD796-832E-0ECC-7BEC-F5C1B280802D}"/>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93C5A5F2-DA4B-62CB-4B81-B0486A7D5C33}"/>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4" name="Rectangle 3">
            <a:extLst>
              <a:ext uri="{FF2B5EF4-FFF2-40B4-BE49-F238E27FC236}">
                <a16:creationId xmlns:a16="http://schemas.microsoft.com/office/drawing/2014/main" id="{5902A19F-AC35-D369-C4CD-BFD5F806B78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0FAD08-4A94-DC13-D2D6-022A5A801A7D}"/>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5F7B8E7F-EEC0-9D5A-973F-B7443FFC7A0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630BB1C-879E-6ADC-9A03-022A0D817D8A}"/>
              </a:ext>
            </a:extLst>
          </p:cNvPr>
          <p:cNvSpPr txBox="1"/>
          <p:nvPr/>
        </p:nvSpPr>
        <p:spPr>
          <a:xfrm>
            <a:off x="649356" y="2035328"/>
            <a:ext cx="4891633" cy="738664"/>
          </a:xfrm>
          <a:prstGeom prst="rect">
            <a:avLst/>
          </a:prstGeom>
          <a:noFill/>
        </p:spPr>
        <p:txBody>
          <a:bodyPr wrap="square" rtlCol="0">
            <a:spAutoFit/>
          </a:bodyPr>
          <a:lstStyle/>
          <a:p>
            <a:r>
              <a:rPr lang="en-US" b="1" dirty="0"/>
              <a:t>8. Are you eligible to vote and likely to vote in 2026 mid-term elections?</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3825F0D9-3B36-46B6-0B4D-08D6B432BBDB}"/>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3552C86-BF5F-E10E-A3A0-0D573C325543}"/>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CE99FA2-FE74-093F-5C66-CE2349639A9C}"/>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E8CB354-4A96-0FB5-562D-001DE84B1C7B}"/>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C7001202-4FF8-3A2D-146A-59BDA814FC6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C27EF4F-2902-7546-853A-0DD21731D6BF}"/>
              </a:ext>
            </a:extLst>
          </p:cNvPr>
          <p:cNvSpPr txBox="1"/>
          <p:nvPr/>
        </p:nvSpPr>
        <p:spPr>
          <a:xfrm>
            <a:off x="2306684" y="1332204"/>
            <a:ext cx="1524926" cy="307777"/>
          </a:xfrm>
          <a:prstGeom prst="rect">
            <a:avLst/>
          </a:prstGeom>
          <a:noFill/>
        </p:spPr>
        <p:txBody>
          <a:bodyPr wrap="square" rtlCol="0">
            <a:spAutoFit/>
          </a:bodyPr>
          <a:lstStyle/>
          <a:p>
            <a:r>
              <a:rPr lang="en-US" dirty="0"/>
              <a:t>37% Complete</a:t>
            </a:r>
          </a:p>
        </p:txBody>
      </p:sp>
      <p:pic>
        <p:nvPicPr>
          <p:cNvPr id="12" name="Graphic 11" descr="Checkbox Checked outline">
            <a:extLst>
              <a:ext uri="{FF2B5EF4-FFF2-40B4-BE49-F238E27FC236}">
                <a16:creationId xmlns:a16="http://schemas.microsoft.com/office/drawing/2014/main" id="{11B82195-581F-A68A-A6FD-4ED6C7525F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C6FCCE87-9023-690F-4AD8-EFBCCB973C50}"/>
              </a:ext>
            </a:extLst>
          </p:cNvPr>
          <p:cNvSpPr txBox="1"/>
          <p:nvPr/>
        </p:nvSpPr>
        <p:spPr>
          <a:xfrm>
            <a:off x="890856" y="2652945"/>
            <a:ext cx="3633377" cy="1046440"/>
          </a:xfrm>
          <a:prstGeom prst="rect">
            <a:avLst/>
          </a:prstGeom>
          <a:noFill/>
        </p:spPr>
        <p:txBody>
          <a:bodyPr wrap="square">
            <a:spAutoFit/>
          </a:bodyPr>
          <a:lstStyle/>
          <a:p>
            <a:pPr lvl="3">
              <a:spcAft>
                <a:spcPts val="1200"/>
              </a:spcAft>
            </a:pPr>
            <a:r>
              <a:rPr lang="en-US" dirty="0"/>
              <a:t>Yes</a:t>
            </a:r>
          </a:p>
          <a:p>
            <a:pPr lvl="3">
              <a:spcAft>
                <a:spcPts val="1200"/>
              </a:spcAft>
            </a:pPr>
            <a:r>
              <a:rPr lang="en-US" dirty="0"/>
              <a:t>No</a:t>
            </a:r>
          </a:p>
          <a:p>
            <a:pPr lvl="3">
              <a:spcAft>
                <a:spcPts val="1200"/>
              </a:spcAft>
            </a:pPr>
            <a:r>
              <a:rPr lang="en-US" dirty="0"/>
              <a:t>I’m not sure</a:t>
            </a:r>
          </a:p>
        </p:txBody>
      </p:sp>
      <p:sp>
        <p:nvSpPr>
          <p:cNvPr id="21" name="Rectangle 20">
            <a:extLst>
              <a:ext uri="{FF2B5EF4-FFF2-40B4-BE49-F238E27FC236}">
                <a16:creationId xmlns:a16="http://schemas.microsoft.com/office/drawing/2014/main" id="{3B4E1D2D-D0EF-EE95-676A-68429B96AD27}"/>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96F0569-3255-83C0-DE61-114ED1093B0A}"/>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044E00F-C96D-4994-2FA7-0333E537F1D3}"/>
              </a:ext>
            </a:extLst>
          </p:cNvPr>
          <p:cNvSpPr txBox="1"/>
          <p:nvPr/>
        </p:nvSpPr>
        <p:spPr>
          <a:xfrm>
            <a:off x="6011839" y="450675"/>
            <a:ext cx="5470138" cy="2246769"/>
          </a:xfrm>
          <a:prstGeom prst="rect">
            <a:avLst/>
          </a:prstGeom>
          <a:noFill/>
        </p:spPr>
        <p:txBody>
          <a:bodyPr wrap="square" rtlCol="0">
            <a:spAutoFit/>
          </a:bodyPr>
          <a:lstStyle/>
          <a:p>
            <a:r>
              <a:rPr lang="en-US" dirty="0">
                <a:highlight>
                  <a:srgbClr val="FF0000"/>
                </a:highlight>
              </a:rPr>
              <a:t>NOTE TO NICK: the actual question from Conor is:</a:t>
            </a:r>
          </a:p>
          <a:p>
            <a:endParaRPr lang="en-US" dirty="0"/>
          </a:p>
          <a:p>
            <a:r>
              <a:rPr lang="en-US" dirty="0"/>
              <a:t> </a:t>
            </a:r>
          </a:p>
          <a:p>
            <a:r>
              <a:rPr lang="en-US" dirty="0"/>
              <a:t>“Are you eligible to vote and likely to vote in the 2026 midterm elections in Colorado’s fifth congressional district?”</a:t>
            </a:r>
          </a:p>
          <a:p>
            <a:endParaRPr lang="en-US" dirty="0"/>
          </a:p>
          <a:p>
            <a:r>
              <a:rPr lang="en-US" dirty="0"/>
              <a:t>I removed reference to Colorado’s fifth. We can always sort responses by zip code and make that determination. I imagine most people won’t know if they’re in Colorado’s fifth district or not.</a:t>
            </a:r>
          </a:p>
          <a:p>
            <a:pPr marL="285750" indent="-285750">
              <a:buFont typeface="Arial" panose="020B0604020202020204" pitchFamily="34" charset="0"/>
              <a:buChar char="•"/>
            </a:pPr>
            <a:endParaRPr lang="en-US" dirty="0"/>
          </a:p>
        </p:txBody>
      </p:sp>
      <p:sp>
        <p:nvSpPr>
          <p:cNvPr id="9" name="Google Shape;99;p14">
            <a:extLst>
              <a:ext uri="{FF2B5EF4-FFF2-40B4-BE49-F238E27FC236}">
                <a16:creationId xmlns:a16="http://schemas.microsoft.com/office/drawing/2014/main" id="{2FD47319-3042-9EA4-A7D3-9916EAE0D7DA}"/>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266231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8DDC2AC-0F70-EC4E-B728-318CF9FA25C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82364A54-07BB-DA78-256C-297484E72DC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4" name="Rectangle 3">
            <a:extLst>
              <a:ext uri="{FF2B5EF4-FFF2-40B4-BE49-F238E27FC236}">
                <a16:creationId xmlns:a16="http://schemas.microsoft.com/office/drawing/2014/main" id="{8233984E-CEDF-73B1-7305-1F1679793ED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5191737-6C89-DDDC-A93D-F84E31C3477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E2B5377F-DEFF-332A-523E-44F1E4C4F7E6}"/>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957B853D-7804-F8A2-2952-003D3375BB4F}"/>
              </a:ext>
            </a:extLst>
          </p:cNvPr>
          <p:cNvSpPr txBox="1"/>
          <p:nvPr/>
        </p:nvSpPr>
        <p:spPr>
          <a:xfrm>
            <a:off x="649356" y="2035328"/>
            <a:ext cx="4891633" cy="523220"/>
          </a:xfrm>
          <a:prstGeom prst="rect">
            <a:avLst/>
          </a:prstGeom>
          <a:noFill/>
        </p:spPr>
        <p:txBody>
          <a:bodyPr wrap="square" rtlCol="0">
            <a:spAutoFit/>
          </a:bodyPr>
          <a:lstStyle/>
          <a:p>
            <a:r>
              <a:rPr lang="en-US" b="1" dirty="0"/>
              <a:t>9. How do you identify politically? </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4B8C966-88F5-1C6C-32D6-78FF43B43E4B}"/>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851191EC-6E85-B67B-57B8-5F5F8F0F8BAC}"/>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B067D31C-AE30-00A6-F983-A91525DE620B}"/>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3E451F7-114F-43C8-3CEE-96C5A21B5EA1}"/>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C061697-95CC-4489-0192-1C8390D8EE6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3EEEEB7-26A2-2BBD-250E-84A18486AC84}"/>
              </a:ext>
            </a:extLst>
          </p:cNvPr>
          <p:cNvSpPr txBox="1"/>
          <p:nvPr/>
        </p:nvSpPr>
        <p:spPr>
          <a:xfrm>
            <a:off x="2306684" y="1332204"/>
            <a:ext cx="1524926" cy="307777"/>
          </a:xfrm>
          <a:prstGeom prst="rect">
            <a:avLst/>
          </a:prstGeom>
          <a:noFill/>
        </p:spPr>
        <p:txBody>
          <a:bodyPr wrap="square" rtlCol="0">
            <a:spAutoFit/>
          </a:bodyPr>
          <a:lstStyle/>
          <a:p>
            <a:r>
              <a:rPr lang="en-US" dirty="0"/>
              <a:t>42% Complete</a:t>
            </a:r>
          </a:p>
        </p:txBody>
      </p:sp>
      <p:pic>
        <p:nvPicPr>
          <p:cNvPr id="12" name="Graphic 11" descr="Checkbox Checked outline">
            <a:extLst>
              <a:ext uri="{FF2B5EF4-FFF2-40B4-BE49-F238E27FC236}">
                <a16:creationId xmlns:a16="http://schemas.microsoft.com/office/drawing/2014/main" id="{B29B23C6-C524-8531-EF6D-AF125F1B2E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70BF3035-4621-B6F5-7A18-12E794E3CCBE}"/>
              </a:ext>
            </a:extLst>
          </p:cNvPr>
          <p:cNvSpPr txBox="1"/>
          <p:nvPr/>
        </p:nvSpPr>
        <p:spPr>
          <a:xfrm>
            <a:off x="890856" y="2652945"/>
            <a:ext cx="3633377" cy="1046440"/>
          </a:xfrm>
          <a:prstGeom prst="rect">
            <a:avLst/>
          </a:prstGeom>
          <a:noFill/>
        </p:spPr>
        <p:txBody>
          <a:bodyPr wrap="square">
            <a:spAutoFit/>
          </a:bodyPr>
          <a:lstStyle/>
          <a:p>
            <a:pPr lvl="3">
              <a:spcAft>
                <a:spcPts val="1200"/>
              </a:spcAft>
            </a:pPr>
            <a:r>
              <a:rPr lang="en-US" dirty="0"/>
              <a:t>Republican</a:t>
            </a:r>
          </a:p>
          <a:p>
            <a:pPr lvl="3">
              <a:spcAft>
                <a:spcPts val="1200"/>
              </a:spcAft>
            </a:pPr>
            <a:r>
              <a:rPr lang="en-US" dirty="0"/>
              <a:t>Democrat</a:t>
            </a:r>
          </a:p>
          <a:p>
            <a:pPr lvl="3">
              <a:spcAft>
                <a:spcPts val="1200"/>
              </a:spcAft>
            </a:pPr>
            <a:r>
              <a:rPr lang="en-US" dirty="0"/>
              <a:t>Other / Third-Party</a:t>
            </a:r>
          </a:p>
        </p:txBody>
      </p:sp>
      <p:sp>
        <p:nvSpPr>
          <p:cNvPr id="21" name="Rectangle 20">
            <a:extLst>
              <a:ext uri="{FF2B5EF4-FFF2-40B4-BE49-F238E27FC236}">
                <a16:creationId xmlns:a16="http://schemas.microsoft.com/office/drawing/2014/main" id="{3B60070E-91C5-3CC2-6941-6D69897F02AD}"/>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E7E64B8-EEA2-0CA7-A198-6A489B00E498}"/>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761CD116-2019-E140-7F2C-1C45BE90455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838118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D990259-B584-E84B-D3C9-7539983E597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6317ECB2-4AB0-D4D7-5005-52A24FC53865}"/>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4" name="Rectangle 3">
            <a:extLst>
              <a:ext uri="{FF2B5EF4-FFF2-40B4-BE49-F238E27FC236}">
                <a16:creationId xmlns:a16="http://schemas.microsoft.com/office/drawing/2014/main" id="{F3025F98-C934-7623-23D6-55C676F9E4B7}"/>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AD4A0-DE21-D2EF-6FB9-934065D3126C}"/>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451AEBFA-A613-FF68-3C51-0D30380FD477}"/>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AD99A2BA-2A04-79EC-135B-D45FC872381B}"/>
              </a:ext>
            </a:extLst>
          </p:cNvPr>
          <p:cNvSpPr txBox="1"/>
          <p:nvPr/>
        </p:nvSpPr>
        <p:spPr>
          <a:xfrm>
            <a:off x="649356" y="2035328"/>
            <a:ext cx="4891633" cy="738664"/>
          </a:xfrm>
          <a:prstGeom prst="rect">
            <a:avLst/>
          </a:prstGeom>
          <a:noFill/>
        </p:spPr>
        <p:txBody>
          <a:bodyPr wrap="square" rtlCol="0">
            <a:spAutoFit/>
          </a:bodyPr>
          <a:lstStyle/>
          <a:p>
            <a:r>
              <a:rPr lang="en-US" b="1" dirty="0"/>
              <a:t>10. Who did you vote for in the 2016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5297E248-CD84-6FB8-0164-A874F3C157B6}"/>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07A61EBC-F126-69E7-21A4-AA3B2F3D247F}"/>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35C27FE-5637-4C8A-346F-58E20C79CEC3}"/>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50BCDB8-B012-5271-F7F7-91A769A8F1D7}"/>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402C1E7F-1B8D-B086-3ECB-91FA1E1A04F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8C5117A-FC6C-BF99-88E3-0E790322F835}"/>
              </a:ext>
            </a:extLst>
          </p:cNvPr>
          <p:cNvSpPr txBox="1"/>
          <p:nvPr/>
        </p:nvSpPr>
        <p:spPr>
          <a:xfrm>
            <a:off x="2306684" y="1332204"/>
            <a:ext cx="1524926" cy="307777"/>
          </a:xfrm>
          <a:prstGeom prst="rect">
            <a:avLst/>
          </a:prstGeom>
          <a:noFill/>
        </p:spPr>
        <p:txBody>
          <a:bodyPr wrap="square" rtlCol="0">
            <a:spAutoFit/>
          </a:bodyPr>
          <a:lstStyle/>
          <a:p>
            <a:r>
              <a:rPr lang="en-US" dirty="0"/>
              <a:t>47% Complete</a:t>
            </a:r>
          </a:p>
        </p:txBody>
      </p:sp>
      <p:pic>
        <p:nvPicPr>
          <p:cNvPr id="12" name="Graphic 11" descr="Checkbox Checked outline">
            <a:extLst>
              <a:ext uri="{FF2B5EF4-FFF2-40B4-BE49-F238E27FC236}">
                <a16:creationId xmlns:a16="http://schemas.microsoft.com/office/drawing/2014/main" id="{E9380D5F-B7A0-3807-8ACD-4BAE4A9888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95CAA551-2959-497A-592C-9E890B53D5DE}"/>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Hillary Clinton</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55BB424C-F550-B021-904C-42F29342C837}"/>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6B168A5-ACC3-C653-666E-FAB22CB24D65}"/>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A487DA-E50A-9E60-FCD0-1DC852EE4451}"/>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867E9165-501F-D7AD-0D40-9BAD16D3C7F6}"/>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210966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20F2831-6F88-23D6-7ADA-35F5DB82CACC}"/>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E3CB4EF6-30FC-8CA5-8C7B-5CB566DC2B44}"/>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4" name="Rectangle 3">
            <a:extLst>
              <a:ext uri="{FF2B5EF4-FFF2-40B4-BE49-F238E27FC236}">
                <a16:creationId xmlns:a16="http://schemas.microsoft.com/office/drawing/2014/main" id="{7610FFBD-5936-1778-586D-616A671CCD58}"/>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E722570-8CFD-6BA3-E5DE-23C5F0E66D62}"/>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30C283D-ED3F-D665-86CC-2134B26F125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5A601CAB-B3FE-CA97-A4DB-208852D45693}"/>
              </a:ext>
            </a:extLst>
          </p:cNvPr>
          <p:cNvSpPr txBox="1"/>
          <p:nvPr/>
        </p:nvSpPr>
        <p:spPr>
          <a:xfrm>
            <a:off x="649356" y="2035328"/>
            <a:ext cx="4891633" cy="738664"/>
          </a:xfrm>
          <a:prstGeom prst="rect">
            <a:avLst/>
          </a:prstGeom>
          <a:noFill/>
        </p:spPr>
        <p:txBody>
          <a:bodyPr wrap="square" rtlCol="0">
            <a:spAutoFit/>
          </a:bodyPr>
          <a:lstStyle/>
          <a:p>
            <a:r>
              <a:rPr lang="en-US" b="1" dirty="0"/>
              <a:t>11. Who did you vote for in the 2020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9C3D83C3-6547-07B4-50C4-9593A5F37218}"/>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941EAF41-D751-35FD-0EDA-7B81B1E2B49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8578562-9635-D8B9-823D-63DA6FA3A530}"/>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06CE5B3-6E28-6979-2A39-D308CA17B8F7}"/>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61EDC3AB-DADD-02A2-64DA-4A427381444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16F744E-A9F5-40EB-B8C2-246CA9678A69}"/>
              </a:ext>
            </a:extLst>
          </p:cNvPr>
          <p:cNvSpPr txBox="1"/>
          <p:nvPr/>
        </p:nvSpPr>
        <p:spPr>
          <a:xfrm>
            <a:off x="2306684" y="1332204"/>
            <a:ext cx="1524926" cy="307777"/>
          </a:xfrm>
          <a:prstGeom prst="rect">
            <a:avLst/>
          </a:prstGeom>
          <a:noFill/>
        </p:spPr>
        <p:txBody>
          <a:bodyPr wrap="square" rtlCol="0">
            <a:spAutoFit/>
          </a:bodyPr>
          <a:lstStyle/>
          <a:p>
            <a:r>
              <a:rPr lang="en-US" dirty="0"/>
              <a:t>53% Complete</a:t>
            </a:r>
          </a:p>
        </p:txBody>
      </p:sp>
      <p:pic>
        <p:nvPicPr>
          <p:cNvPr id="12" name="Graphic 11" descr="Checkbox Checked outline">
            <a:extLst>
              <a:ext uri="{FF2B5EF4-FFF2-40B4-BE49-F238E27FC236}">
                <a16:creationId xmlns:a16="http://schemas.microsoft.com/office/drawing/2014/main" id="{00363AB2-F134-6F33-8923-3E2DC04F93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1C739D41-071E-2969-9546-E8B432DBAA42}"/>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Joe Biden</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202219C5-DC08-98AA-05AF-185A7A703351}"/>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3D3DB9-2851-9401-B713-ECF54A56D131}"/>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32FB1B-50D7-5B0D-AC20-8A621F3B9591}"/>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4C3C3E66-D364-E921-E774-D3922A9FA84E}"/>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64173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E0DAE610-07B7-1D50-B7C3-1120850F6D43}"/>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A994F168-80E5-A7FC-E017-FB5772F7C7F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4" name="Rectangle 3">
            <a:extLst>
              <a:ext uri="{FF2B5EF4-FFF2-40B4-BE49-F238E27FC236}">
                <a16:creationId xmlns:a16="http://schemas.microsoft.com/office/drawing/2014/main" id="{178199C2-4B6D-4CEB-7030-15C59AE70E8B}"/>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7E0CC8-3063-BC03-B29E-AB67C0F5F02E}"/>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DC46354-830A-FE19-4FE9-E07D351C7DE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3FE5C363-E5EE-FC11-8914-2174654D57F5}"/>
              </a:ext>
            </a:extLst>
          </p:cNvPr>
          <p:cNvSpPr txBox="1"/>
          <p:nvPr/>
        </p:nvSpPr>
        <p:spPr>
          <a:xfrm>
            <a:off x="649356" y="2035328"/>
            <a:ext cx="4891633" cy="738664"/>
          </a:xfrm>
          <a:prstGeom prst="rect">
            <a:avLst/>
          </a:prstGeom>
          <a:noFill/>
        </p:spPr>
        <p:txBody>
          <a:bodyPr wrap="square" rtlCol="0">
            <a:spAutoFit/>
          </a:bodyPr>
          <a:lstStyle/>
          <a:p>
            <a:r>
              <a:rPr lang="en-US" b="1" dirty="0"/>
              <a:t>12. Who did you vote for in the 2024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E260D4CB-BAC8-C16F-1DA9-4CE3D47574D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B6EBD226-0CB8-CE30-71FD-83D2C65BC4AC}"/>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E4DCDFE7-AF29-4F99-1400-CE78B734C11B}"/>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D71D2B9-59EB-8564-CE02-CE68138DA9A6}"/>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2591DD10-5966-FBF2-4BA3-6C9A9DA33D7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8BEA3DC-DDD6-2C98-9F3B-FDDFC6A14A3C}"/>
              </a:ext>
            </a:extLst>
          </p:cNvPr>
          <p:cNvSpPr txBox="1"/>
          <p:nvPr/>
        </p:nvSpPr>
        <p:spPr>
          <a:xfrm>
            <a:off x="2306684" y="1332204"/>
            <a:ext cx="1524926" cy="307777"/>
          </a:xfrm>
          <a:prstGeom prst="rect">
            <a:avLst/>
          </a:prstGeom>
          <a:noFill/>
        </p:spPr>
        <p:txBody>
          <a:bodyPr wrap="square" rtlCol="0">
            <a:spAutoFit/>
          </a:bodyPr>
          <a:lstStyle/>
          <a:p>
            <a:r>
              <a:rPr lang="en-US" dirty="0"/>
              <a:t>58% Complete</a:t>
            </a:r>
          </a:p>
        </p:txBody>
      </p:sp>
      <p:pic>
        <p:nvPicPr>
          <p:cNvPr id="12" name="Graphic 11" descr="Checkbox Checked outline">
            <a:extLst>
              <a:ext uri="{FF2B5EF4-FFF2-40B4-BE49-F238E27FC236}">
                <a16:creationId xmlns:a16="http://schemas.microsoft.com/office/drawing/2014/main" id="{11D1E3B8-5247-6275-9F28-8C31DDD428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71871C75-4CD5-695D-9D69-D81184F8400B}"/>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Kamala Harris</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87E32748-B858-8D3C-418A-25285EB3943F}"/>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4BC1783-8969-46FC-A619-2CE5AB5B2F49}"/>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989738-E625-BC84-C45B-6481CEDB21BD}"/>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E787A44D-2235-A70C-B0D1-ABF2456E40C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017417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25C2745-B0EE-75B0-A13A-E52697A9469B}"/>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DF6B94C6-3E8F-5495-657D-1D1FD90D9ACA}"/>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4" name="Rectangle 3">
            <a:extLst>
              <a:ext uri="{FF2B5EF4-FFF2-40B4-BE49-F238E27FC236}">
                <a16:creationId xmlns:a16="http://schemas.microsoft.com/office/drawing/2014/main" id="{37009ECE-6BF0-360D-6AC1-5A4F43252513}"/>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DAC4D2-63F5-FD96-3138-2F1432D52AD2}"/>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C39BD749-8CB8-C9E3-EDF2-F97AD25D6D83}"/>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1D1B405A-302F-42FB-FD5A-31578F59F7E5}"/>
              </a:ext>
            </a:extLst>
          </p:cNvPr>
          <p:cNvSpPr txBox="1"/>
          <p:nvPr/>
        </p:nvSpPr>
        <p:spPr>
          <a:xfrm>
            <a:off x="649356" y="2035328"/>
            <a:ext cx="4891633" cy="738664"/>
          </a:xfrm>
          <a:prstGeom prst="rect">
            <a:avLst/>
          </a:prstGeom>
          <a:noFill/>
        </p:spPr>
        <p:txBody>
          <a:bodyPr wrap="square" rtlCol="0">
            <a:spAutoFit/>
          </a:bodyPr>
          <a:lstStyle/>
          <a:p>
            <a:r>
              <a:rPr lang="en-US" b="1" dirty="0"/>
              <a:t>13. How would you rate your view of the job Donald Trump is doing as president?</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B82EEA9C-C13E-C182-A154-9049E957A39E}"/>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4CA6704-200F-1D98-47EB-CE684DBF2ADE}"/>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2A2B6D8-9CFF-E0AE-7137-BF0ADDA7084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76AFE4F-9D0D-F87D-A121-6F1144F31D2A}"/>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5285F79D-7A2A-4512-40FE-E084E4FA692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9E2BEEC-CE7B-158F-F6A0-5DD56DFC972E}"/>
              </a:ext>
            </a:extLst>
          </p:cNvPr>
          <p:cNvSpPr txBox="1"/>
          <p:nvPr/>
        </p:nvSpPr>
        <p:spPr>
          <a:xfrm>
            <a:off x="2306684" y="1332204"/>
            <a:ext cx="1524926" cy="307777"/>
          </a:xfrm>
          <a:prstGeom prst="rect">
            <a:avLst/>
          </a:prstGeom>
          <a:noFill/>
        </p:spPr>
        <p:txBody>
          <a:bodyPr wrap="square" rtlCol="0">
            <a:spAutoFit/>
          </a:bodyPr>
          <a:lstStyle/>
          <a:p>
            <a:r>
              <a:rPr lang="en-US" dirty="0"/>
              <a:t>63% Complete</a:t>
            </a:r>
          </a:p>
        </p:txBody>
      </p:sp>
      <p:pic>
        <p:nvPicPr>
          <p:cNvPr id="12" name="Graphic 11" descr="Checkbox Checked outline">
            <a:extLst>
              <a:ext uri="{FF2B5EF4-FFF2-40B4-BE49-F238E27FC236}">
                <a16:creationId xmlns:a16="http://schemas.microsoft.com/office/drawing/2014/main" id="{1EF9EAC2-30B8-F9BC-BD2F-CDC8CA0DC5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8B8D5585-31B0-1827-255E-0A17A9DD180C}"/>
              </a:ext>
            </a:extLst>
          </p:cNvPr>
          <p:cNvSpPr txBox="1"/>
          <p:nvPr/>
        </p:nvSpPr>
        <p:spPr>
          <a:xfrm>
            <a:off x="890856" y="2652945"/>
            <a:ext cx="3633377" cy="1785104"/>
          </a:xfrm>
          <a:prstGeom prst="rect">
            <a:avLst/>
          </a:prstGeom>
          <a:noFill/>
        </p:spPr>
        <p:txBody>
          <a:bodyPr wrap="square">
            <a:spAutoFit/>
          </a:bodyPr>
          <a:lstStyle/>
          <a:p>
            <a:pPr lvl="3">
              <a:spcAft>
                <a:spcPts val="1200"/>
              </a:spcAft>
            </a:pPr>
            <a:r>
              <a:rPr lang="en-US" dirty="0"/>
              <a:t>Strongly approve</a:t>
            </a:r>
          </a:p>
          <a:p>
            <a:pPr lvl="3">
              <a:spcAft>
                <a:spcPts val="1200"/>
              </a:spcAft>
            </a:pPr>
            <a:r>
              <a:rPr lang="en-US" dirty="0"/>
              <a:t>Somewhat approve</a:t>
            </a:r>
          </a:p>
          <a:p>
            <a:pPr lvl="3">
              <a:spcAft>
                <a:spcPts val="1200"/>
              </a:spcAft>
            </a:pPr>
            <a:r>
              <a:rPr lang="en-US" dirty="0"/>
              <a:t>Neutral</a:t>
            </a:r>
          </a:p>
          <a:p>
            <a:pPr lvl="3">
              <a:spcAft>
                <a:spcPts val="1200"/>
              </a:spcAft>
            </a:pPr>
            <a:r>
              <a:rPr lang="en-US" dirty="0"/>
              <a:t>Somewhat disapprove</a:t>
            </a:r>
          </a:p>
          <a:p>
            <a:pPr lvl="3">
              <a:spcAft>
                <a:spcPts val="1200"/>
              </a:spcAft>
            </a:pPr>
            <a:r>
              <a:rPr lang="en-US" dirty="0"/>
              <a:t>Strongly disapprove</a:t>
            </a:r>
          </a:p>
        </p:txBody>
      </p:sp>
      <p:sp>
        <p:nvSpPr>
          <p:cNvPr id="21" name="Rectangle 20">
            <a:extLst>
              <a:ext uri="{FF2B5EF4-FFF2-40B4-BE49-F238E27FC236}">
                <a16:creationId xmlns:a16="http://schemas.microsoft.com/office/drawing/2014/main" id="{088B142A-F58D-B03B-99A9-642CBB97E798}"/>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8921656-A159-8BC0-031C-4D0FD8016BE6}"/>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857DDCC-64FF-A06E-62C7-E9B09E07E3BE}"/>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6519CF6-775A-DB93-DB58-0D59520B54F2}"/>
              </a:ext>
            </a:extLst>
          </p:cNvPr>
          <p:cNvSpPr/>
          <p:nvPr/>
        </p:nvSpPr>
        <p:spPr>
          <a:xfrm>
            <a:off x="704789" y="417877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77C4C4E7-6D1E-1B17-9E71-B297BAF86513}"/>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179100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9E78763B-13C4-2B61-11B7-4E72272EF6D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1B22961-979D-0E01-413C-15810AB8DFC7}"/>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4" name="Rectangle 3">
            <a:extLst>
              <a:ext uri="{FF2B5EF4-FFF2-40B4-BE49-F238E27FC236}">
                <a16:creationId xmlns:a16="http://schemas.microsoft.com/office/drawing/2014/main" id="{5D88CD5E-5C8C-6CA9-8105-BE9579A50C99}"/>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395580A-91CB-6C7E-BC3F-C18DABA6250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B3FD169-F91E-0C7C-5F33-769931B58C9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70E0D6CA-DF45-1E9E-46D4-2B3B2FB6DE01}"/>
              </a:ext>
            </a:extLst>
          </p:cNvPr>
          <p:cNvSpPr txBox="1"/>
          <p:nvPr/>
        </p:nvSpPr>
        <p:spPr>
          <a:xfrm>
            <a:off x="649356" y="1905672"/>
            <a:ext cx="4891633" cy="738664"/>
          </a:xfrm>
          <a:prstGeom prst="rect">
            <a:avLst/>
          </a:prstGeom>
          <a:noFill/>
        </p:spPr>
        <p:txBody>
          <a:bodyPr wrap="square" rtlCol="0">
            <a:spAutoFit/>
          </a:bodyPr>
          <a:lstStyle/>
          <a:p>
            <a:r>
              <a:rPr lang="en-US" b="1" dirty="0"/>
              <a:t>14. Briefly explain the main reasons for your performance rating of Donald Trump in </a:t>
            </a:r>
            <a:r>
              <a:rPr lang="en-US" b="1"/>
              <a:t>Question 1</a:t>
            </a:r>
            <a:r>
              <a:rPr lang="en-US" b="1" dirty="0"/>
              <a:t>3</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927A34D-5141-ABF7-050C-D24A9DF46442}"/>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2D16A1C-E59F-7447-8947-BEC814C59CE8}"/>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CC4A26E-3554-02AA-C51D-7211C4AD283F}"/>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C5FB80E-8B6D-B782-60B9-BDB9193EC02E}"/>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85E256F2-DF4B-D172-8BF6-B966C185792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6BE38E5-53E9-3917-B530-83450E5C3EF3}"/>
              </a:ext>
            </a:extLst>
          </p:cNvPr>
          <p:cNvSpPr txBox="1"/>
          <p:nvPr/>
        </p:nvSpPr>
        <p:spPr>
          <a:xfrm>
            <a:off x="2306683" y="1332204"/>
            <a:ext cx="1391859" cy="307777"/>
          </a:xfrm>
          <a:prstGeom prst="rect">
            <a:avLst/>
          </a:prstGeom>
          <a:noFill/>
        </p:spPr>
        <p:txBody>
          <a:bodyPr wrap="square" rtlCol="0">
            <a:spAutoFit/>
          </a:bodyPr>
          <a:lstStyle/>
          <a:p>
            <a:r>
              <a:rPr lang="en-US" dirty="0"/>
              <a:t>68% Complete</a:t>
            </a:r>
          </a:p>
        </p:txBody>
      </p:sp>
      <p:sp>
        <p:nvSpPr>
          <p:cNvPr id="11" name="Rectangle: Rounded Corners 10">
            <a:extLst>
              <a:ext uri="{FF2B5EF4-FFF2-40B4-BE49-F238E27FC236}">
                <a16:creationId xmlns:a16="http://schemas.microsoft.com/office/drawing/2014/main" id="{E8CEB1DA-7241-7783-2C49-DEDD58BA2C91}"/>
              </a:ext>
            </a:extLst>
          </p:cNvPr>
          <p:cNvSpPr/>
          <p:nvPr/>
        </p:nvSpPr>
        <p:spPr>
          <a:xfrm>
            <a:off x="757451" y="2571365"/>
            <a:ext cx="3835020" cy="1331891"/>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A42EB447-4386-D6C5-4E3F-66D2C4AF54C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9" name="Rectangle 8">
            <a:extLst>
              <a:ext uri="{FF2B5EF4-FFF2-40B4-BE49-F238E27FC236}">
                <a16:creationId xmlns:a16="http://schemas.microsoft.com/office/drawing/2014/main" id="{2953D7CE-2FEE-B825-7706-703B098200EC}"/>
              </a:ext>
            </a:extLst>
          </p:cNvPr>
          <p:cNvSpPr/>
          <p:nvPr/>
        </p:nvSpPr>
        <p:spPr>
          <a:xfrm>
            <a:off x="6228762" y="382822"/>
            <a:ext cx="4891633" cy="300250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REMOVE THE OPEN ENDED RESPONSE AND HAVE THEM SELECT ALL THAT APPLY BELOW</a:t>
            </a:r>
          </a:p>
        </p:txBody>
      </p:sp>
      <p:sp>
        <p:nvSpPr>
          <p:cNvPr id="16" name="TextBox 15">
            <a:extLst>
              <a:ext uri="{FF2B5EF4-FFF2-40B4-BE49-F238E27FC236}">
                <a16:creationId xmlns:a16="http://schemas.microsoft.com/office/drawing/2014/main" id="{258085E9-F37B-3B7F-C7D9-625C88FA0E7B}"/>
              </a:ext>
            </a:extLst>
          </p:cNvPr>
          <p:cNvSpPr txBox="1"/>
          <p:nvPr/>
        </p:nvSpPr>
        <p:spPr>
          <a:xfrm>
            <a:off x="6095999" y="3831706"/>
            <a:ext cx="4891633" cy="2308324"/>
          </a:xfrm>
          <a:prstGeom prst="rect">
            <a:avLst/>
          </a:prstGeom>
          <a:noFill/>
        </p:spPr>
        <p:txBody>
          <a:bodyPr wrap="square">
            <a:spAutoFit/>
          </a:bodyPr>
          <a:lstStyle/>
          <a:p>
            <a:pPr marL="285750" indent="-285750">
              <a:buFont typeface="Arial" panose="020B0604020202020204" pitchFamily="34" charset="0"/>
              <a:buChar char="•"/>
            </a:pPr>
            <a:r>
              <a:rPr lang="en-US" sz="1200" dirty="0"/>
              <a:t>Their handling of affordability and cost of living (prices, housing, childcare)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Their approach to the economy and taxes (jobs, wages, inflation)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Their approach to immigration and border policy</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Their approach to foreign policy and national security (Ukraine, Israel/Gaza, China)</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Their approach to rights and public safety (reproductive rights, gun policy, crime)</a:t>
            </a:r>
          </a:p>
        </p:txBody>
      </p:sp>
    </p:spTree>
    <p:extLst>
      <p:ext uri="{BB962C8B-B14F-4D97-AF65-F5344CB8AC3E}">
        <p14:creationId xmlns:p14="http://schemas.microsoft.com/office/powerpoint/2010/main" val="10189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B6F24C2-EF46-3A0F-48FC-FEEC6860171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BBBDE1BE-6295-F4BD-2751-B565DA22382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4" name="Rectangle 3">
            <a:extLst>
              <a:ext uri="{FF2B5EF4-FFF2-40B4-BE49-F238E27FC236}">
                <a16:creationId xmlns:a16="http://schemas.microsoft.com/office/drawing/2014/main" id="{79FB1048-EE9E-78FC-5832-5C862B54C87E}"/>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1507E52-F8FD-867D-ADC9-A6A507EE3E2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FACE0A14-400B-5110-C448-D25BB21E1B7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3F5166FC-0C39-2D61-0A2E-E95DC3A254B3}"/>
              </a:ext>
            </a:extLst>
          </p:cNvPr>
          <p:cNvSpPr txBox="1"/>
          <p:nvPr/>
        </p:nvSpPr>
        <p:spPr>
          <a:xfrm>
            <a:off x="649356" y="2035328"/>
            <a:ext cx="4891633" cy="523220"/>
          </a:xfrm>
          <a:prstGeom prst="rect">
            <a:avLst/>
          </a:prstGeom>
          <a:noFill/>
        </p:spPr>
        <p:txBody>
          <a:bodyPr wrap="square" rtlCol="0">
            <a:spAutoFit/>
          </a:bodyPr>
          <a:lstStyle/>
          <a:p>
            <a:r>
              <a:rPr lang="en-US" b="1" dirty="0"/>
              <a:t>15. Where do you get your health insurance?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8C209FC4-3EBD-4AA6-C1F6-F06B57050DDD}"/>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F377543-84B2-C3B0-EAE5-98D918BFD0C9}"/>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5D1B58D-2912-285E-6A67-539D16504FA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1F95223-86F1-9BB8-35F3-096FA73A9ACD}"/>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B1BB7EC1-9CB3-20E2-B870-0D7D10C5E05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15EEAEC-1817-2CF2-6F73-A0067CFB5255}"/>
              </a:ext>
            </a:extLst>
          </p:cNvPr>
          <p:cNvSpPr txBox="1"/>
          <p:nvPr/>
        </p:nvSpPr>
        <p:spPr>
          <a:xfrm>
            <a:off x="2306684" y="1332204"/>
            <a:ext cx="1524926" cy="307777"/>
          </a:xfrm>
          <a:prstGeom prst="rect">
            <a:avLst/>
          </a:prstGeom>
          <a:noFill/>
        </p:spPr>
        <p:txBody>
          <a:bodyPr wrap="square" rtlCol="0">
            <a:spAutoFit/>
          </a:bodyPr>
          <a:lstStyle/>
          <a:p>
            <a:r>
              <a:rPr lang="en-US" dirty="0"/>
              <a:t>74% Complete</a:t>
            </a:r>
          </a:p>
        </p:txBody>
      </p:sp>
      <p:pic>
        <p:nvPicPr>
          <p:cNvPr id="12" name="Graphic 11" descr="Checkbox Checked outline">
            <a:extLst>
              <a:ext uri="{FF2B5EF4-FFF2-40B4-BE49-F238E27FC236}">
                <a16:creationId xmlns:a16="http://schemas.microsoft.com/office/drawing/2014/main" id="{8E7D0A86-351C-7CAA-7B8A-DF641477AF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515089"/>
            <a:ext cx="340520" cy="340520"/>
          </a:xfrm>
          <a:prstGeom prst="rect">
            <a:avLst/>
          </a:prstGeom>
        </p:spPr>
      </p:pic>
      <p:sp>
        <p:nvSpPr>
          <p:cNvPr id="17" name="TextBox 16">
            <a:extLst>
              <a:ext uri="{FF2B5EF4-FFF2-40B4-BE49-F238E27FC236}">
                <a16:creationId xmlns:a16="http://schemas.microsoft.com/office/drawing/2014/main" id="{FF616C63-099C-E34D-2C2D-48858EB42371}"/>
              </a:ext>
            </a:extLst>
          </p:cNvPr>
          <p:cNvSpPr txBox="1"/>
          <p:nvPr/>
        </p:nvSpPr>
        <p:spPr>
          <a:xfrm>
            <a:off x="890856" y="2536937"/>
            <a:ext cx="4650133" cy="2154436"/>
          </a:xfrm>
          <a:prstGeom prst="rect">
            <a:avLst/>
          </a:prstGeom>
          <a:noFill/>
        </p:spPr>
        <p:txBody>
          <a:bodyPr wrap="square">
            <a:spAutoFit/>
          </a:bodyPr>
          <a:lstStyle/>
          <a:p>
            <a:pPr lvl="3">
              <a:spcAft>
                <a:spcPts val="1200"/>
              </a:spcAft>
            </a:pPr>
            <a:r>
              <a:rPr lang="en-US" dirty="0"/>
              <a:t>Employer sponsored (your job or family member’s job)</a:t>
            </a:r>
          </a:p>
          <a:p>
            <a:pPr lvl="3">
              <a:spcAft>
                <a:spcPts val="1200"/>
              </a:spcAft>
            </a:pPr>
            <a:r>
              <a:rPr lang="en-US" dirty="0"/>
              <a:t>Medicaid</a:t>
            </a:r>
          </a:p>
          <a:p>
            <a:pPr lvl="3">
              <a:spcAft>
                <a:spcPts val="1200"/>
              </a:spcAft>
            </a:pPr>
            <a:r>
              <a:rPr lang="en-US" dirty="0"/>
              <a:t>Medicare</a:t>
            </a:r>
          </a:p>
          <a:p>
            <a:pPr lvl="3">
              <a:spcAft>
                <a:spcPts val="1200"/>
              </a:spcAft>
            </a:pPr>
            <a:r>
              <a:rPr lang="en-US" dirty="0"/>
              <a:t>ACA marketplace / individual marketplace</a:t>
            </a:r>
          </a:p>
          <a:p>
            <a:pPr lvl="3">
              <a:spcAft>
                <a:spcPts val="1200"/>
              </a:spcAft>
            </a:pPr>
            <a:r>
              <a:rPr lang="en-US" dirty="0"/>
              <a:t>Military (VA or TRICARE)</a:t>
            </a:r>
          </a:p>
          <a:p>
            <a:pPr lvl="3">
              <a:spcAft>
                <a:spcPts val="1200"/>
              </a:spcAft>
            </a:pPr>
            <a:r>
              <a:rPr lang="en-US" dirty="0"/>
              <a:t>Uninsured</a:t>
            </a:r>
          </a:p>
        </p:txBody>
      </p:sp>
      <p:sp>
        <p:nvSpPr>
          <p:cNvPr id="21" name="Rectangle 20">
            <a:extLst>
              <a:ext uri="{FF2B5EF4-FFF2-40B4-BE49-F238E27FC236}">
                <a16:creationId xmlns:a16="http://schemas.microsoft.com/office/drawing/2014/main" id="{B89AFDD5-FAC7-4C40-FEE1-487B82A742BE}"/>
              </a:ext>
            </a:extLst>
          </p:cNvPr>
          <p:cNvSpPr/>
          <p:nvPr/>
        </p:nvSpPr>
        <p:spPr>
          <a:xfrm>
            <a:off x="710023" y="298325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09362F-D9EE-B9DF-08E7-5D5DF707866D}"/>
              </a:ext>
            </a:extLst>
          </p:cNvPr>
          <p:cNvSpPr/>
          <p:nvPr/>
        </p:nvSpPr>
        <p:spPr>
          <a:xfrm>
            <a:off x="710023" y="334036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F3FDC4-F09A-53B7-5BA7-53C125236867}"/>
              </a:ext>
            </a:extLst>
          </p:cNvPr>
          <p:cNvSpPr/>
          <p:nvPr/>
        </p:nvSpPr>
        <p:spPr>
          <a:xfrm>
            <a:off x="710023" y="367432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C12B6F-537F-61BA-FFBE-C5DB177F07D3}"/>
              </a:ext>
            </a:extLst>
          </p:cNvPr>
          <p:cNvSpPr/>
          <p:nvPr/>
        </p:nvSpPr>
        <p:spPr>
          <a:xfrm>
            <a:off x="704789" y="4062764"/>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EC9B5C-EC7E-8B87-50B6-84620061A8CD}"/>
              </a:ext>
            </a:extLst>
          </p:cNvPr>
          <p:cNvSpPr/>
          <p:nvPr/>
        </p:nvSpPr>
        <p:spPr>
          <a:xfrm>
            <a:off x="701154" y="4419883"/>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99;p14">
            <a:extLst>
              <a:ext uri="{FF2B5EF4-FFF2-40B4-BE49-F238E27FC236}">
                <a16:creationId xmlns:a16="http://schemas.microsoft.com/office/drawing/2014/main" id="{494CB51A-2988-77B3-E521-9FE1BC51E08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53505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210C4BC-F477-D818-EDC8-AA2BDB2EB852}"/>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6986103E-80EF-CD35-2D2F-352D556A0305}"/>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4" name="Rectangle 3">
            <a:extLst>
              <a:ext uri="{FF2B5EF4-FFF2-40B4-BE49-F238E27FC236}">
                <a16:creationId xmlns:a16="http://schemas.microsoft.com/office/drawing/2014/main" id="{C034F145-A20E-7CED-916B-2E5EF54AAA9F}"/>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B140E6-FEAD-B739-1819-32338A9B99B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5B058AC7-3E56-A4E1-8F38-EBF3E03530C1}"/>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A905DC29-304B-ADB3-BED6-40543463F249}"/>
              </a:ext>
            </a:extLst>
          </p:cNvPr>
          <p:cNvSpPr txBox="1"/>
          <p:nvPr/>
        </p:nvSpPr>
        <p:spPr>
          <a:xfrm>
            <a:off x="649356" y="1905672"/>
            <a:ext cx="4891633" cy="523220"/>
          </a:xfrm>
          <a:prstGeom prst="rect">
            <a:avLst/>
          </a:prstGeom>
          <a:noFill/>
        </p:spPr>
        <p:txBody>
          <a:bodyPr wrap="square" rtlCol="0">
            <a:spAutoFit/>
          </a:bodyPr>
          <a:lstStyle/>
          <a:p>
            <a:r>
              <a:rPr lang="en-US" b="1" dirty="0"/>
              <a:t>16. Briefly describe your view of Rep. Jeff Crank</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CA0A1FBF-2C17-FB68-D894-E31B5E3BD337}"/>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AC650575-EA7A-D3BE-5A07-C2C50BBB8DFE}"/>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2383D774-3AD6-E5AC-4207-82A55413DE4C}"/>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3CE7579-97EE-6CCA-1D84-6FF0B17955D6}"/>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7C047BA-AEFD-6D90-6720-581B6BBC895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DEDDD62-DFB1-EAF3-B2C7-EC4F2A1B5FFB}"/>
              </a:ext>
            </a:extLst>
          </p:cNvPr>
          <p:cNvSpPr txBox="1"/>
          <p:nvPr/>
        </p:nvSpPr>
        <p:spPr>
          <a:xfrm>
            <a:off x="2306684" y="1332204"/>
            <a:ext cx="1460098" cy="307777"/>
          </a:xfrm>
          <a:prstGeom prst="rect">
            <a:avLst/>
          </a:prstGeom>
          <a:noFill/>
        </p:spPr>
        <p:txBody>
          <a:bodyPr wrap="square" rtlCol="0">
            <a:spAutoFit/>
          </a:bodyPr>
          <a:lstStyle/>
          <a:p>
            <a:r>
              <a:rPr lang="en-US" dirty="0"/>
              <a:t>79% Complete</a:t>
            </a:r>
          </a:p>
        </p:txBody>
      </p:sp>
      <p:sp>
        <p:nvSpPr>
          <p:cNvPr id="11" name="Rectangle: Rounded Corners 10">
            <a:extLst>
              <a:ext uri="{FF2B5EF4-FFF2-40B4-BE49-F238E27FC236}">
                <a16:creationId xmlns:a16="http://schemas.microsoft.com/office/drawing/2014/main" id="{028A3790-ABC8-095D-F19E-B390DBEC35D1}"/>
              </a:ext>
            </a:extLst>
          </p:cNvPr>
          <p:cNvSpPr/>
          <p:nvPr/>
        </p:nvSpPr>
        <p:spPr>
          <a:xfrm>
            <a:off x="784747" y="2334039"/>
            <a:ext cx="3835020" cy="1289441"/>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5C8DC9A3-4B26-6A8E-4503-0396EC63EE9E}"/>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12" name="TextBox 11">
            <a:extLst>
              <a:ext uri="{FF2B5EF4-FFF2-40B4-BE49-F238E27FC236}">
                <a16:creationId xmlns:a16="http://schemas.microsoft.com/office/drawing/2014/main" id="{F2678122-711B-FF25-29A8-FD58934E07AA}"/>
              </a:ext>
            </a:extLst>
          </p:cNvPr>
          <p:cNvSpPr txBox="1"/>
          <p:nvPr/>
        </p:nvSpPr>
        <p:spPr>
          <a:xfrm>
            <a:off x="6005016" y="3918341"/>
            <a:ext cx="4891633" cy="954107"/>
          </a:xfrm>
          <a:prstGeom prst="rect">
            <a:avLst/>
          </a:prstGeom>
          <a:noFill/>
        </p:spPr>
        <p:txBody>
          <a:bodyPr wrap="square">
            <a:spAutoFit/>
          </a:bodyPr>
          <a:lstStyle/>
          <a:p>
            <a:pPr algn="l">
              <a:buFont typeface="Arial" panose="020B0604020202020204" pitchFamily="34" charset="0"/>
              <a:buChar char="•"/>
            </a:pPr>
            <a:r>
              <a:rPr lang="en-US" b="0" i="0" dirty="0">
                <a:solidFill>
                  <a:srgbClr val="282828"/>
                </a:solidFill>
                <a:effectLst/>
                <a:latin typeface="OpenAI Sans"/>
              </a:rPr>
              <a:t>Favorable</a:t>
            </a:r>
          </a:p>
          <a:p>
            <a:pPr algn="l">
              <a:buFont typeface="Arial" panose="020B0604020202020204" pitchFamily="34" charset="0"/>
              <a:buChar char="•"/>
            </a:pPr>
            <a:r>
              <a:rPr lang="en-US" b="0" i="0" dirty="0">
                <a:solidFill>
                  <a:srgbClr val="282828"/>
                </a:solidFill>
                <a:effectLst/>
                <a:latin typeface="OpenAI Sans"/>
              </a:rPr>
              <a:t>Unfavorable</a:t>
            </a:r>
          </a:p>
          <a:p>
            <a:pPr algn="l">
              <a:buFont typeface="Arial" panose="020B0604020202020204" pitchFamily="34" charset="0"/>
              <a:buChar char="•"/>
            </a:pPr>
            <a:r>
              <a:rPr lang="en-US" b="0" i="0" dirty="0">
                <a:solidFill>
                  <a:srgbClr val="282828"/>
                </a:solidFill>
                <a:effectLst/>
                <a:latin typeface="OpenAI Sans"/>
              </a:rPr>
              <a:t>Neutral / No strong opinion</a:t>
            </a:r>
          </a:p>
          <a:p>
            <a:pPr algn="l">
              <a:buFont typeface="Arial" panose="020B0604020202020204" pitchFamily="34" charset="0"/>
              <a:buChar char="•"/>
            </a:pPr>
            <a:r>
              <a:rPr lang="en-US" b="0" i="0" dirty="0">
                <a:solidFill>
                  <a:srgbClr val="282828"/>
                </a:solidFill>
                <a:effectLst/>
                <a:latin typeface="OpenAI Sans"/>
              </a:rPr>
              <a:t>Don’t know who this is</a:t>
            </a:r>
          </a:p>
        </p:txBody>
      </p:sp>
      <p:sp>
        <p:nvSpPr>
          <p:cNvPr id="9" name="Rectangle 8">
            <a:extLst>
              <a:ext uri="{FF2B5EF4-FFF2-40B4-BE49-F238E27FC236}">
                <a16:creationId xmlns:a16="http://schemas.microsoft.com/office/drawing/2014/main" id="{F6CE6853-5C15-DFAE-F5A9-CDE838E3F69C}"/>
              </a:ext>
            </a:extLst>
          </p:cNvPr>
          <p:cNvSpPr/>
          <p:nvPr/>
        </p:nvSpPr>
        <p:spPr>
          <a:xfrm>
            <a:off x="6005016" y="646857"/>
            <a:ext cx="4891633" cy="300250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REMOVE THE OPEN ENDED RESPONSE AND HAVE THEM SELECT ONLY </a:t>
            </a:r>
            <a:r>
              <a:rPr lang="en-US" b="1" u="sng" dirty="0"/>
              <a:t>ONE</a:t>
            </a:r>
            <a:r>
              <a:rPr lang="en-US" dirty="0"/>
              <a:t> BELOW:</a:t>
            </a:r>
          </a:p>
        </p:txBody>
      </p:sp>
    </p:spTree>
    <p:extLst>
      <p:ext uri="{BB962C8B-B14F-4D97-AF65-F5344CB8AC3E}">
        <p14:creationId xmlns:p14="http://schemas.microsoft.com/office/powerpoint/2010/main" val="275834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1D27BA15-B616-679F-41DF-18348E5D7C7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C5C83056-19A8-AFF0-6227-4EDF132FCE08}"/>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4" name="Rectangle 3">
            <a:extLst>
              <a:ext uri="{FF2B5EF4-FFF2-40B4-BE49-F238E27FC236}">
                <a16:creationId xmlns:a16="http://schemas.microsoft.com/office/drawing/2014/main" id="{B07640F3-FDD0-F101-E3F9-279A46F95ACC}"/>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9A91C6-44D7-3537-9F85-830F432C4CF6}"/>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7CC8478F-0BE7-3958-E772-074246CF49F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73DD8BA2-BD3D-29D9-980E-6CE2A8E85DAE}"/>
              </a:ext>
            </a:extLst>
          </p:cNvPr>
          <p:cNvSpPr txBox="1"/>
          <p:nvPr/>
        </p:nvSpPr>
        <p:spPr>
          <a:xfrm>
            <a:off x="649356" y="1905672"/>
            <a:ext cx="4891633" cy="1384995"/>
          </a:xfrm>
          <a:prstGeom prst="rect">
            <a:avLst/>
          </a:prstGeom>
          <a:noFill/>
        </p:spPr>
        <p:txBody>
          <a:bodyPr wrap="square" rtlCol="0">
            <a:spAutoFit/>
          </a:bodyPr>
          <a:lstStyle/>
          <a:p>
            <a:r>
              <a:rPr lang="en-US" b="1" dirty="0"/>
              <a:t>17. Name five pieces of political or non-political media you consumed this week – they can be podcasts, TV shows, YouTube, personalities, news articles, or prominent social media accounts. Please be as specific as possible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DC6340AA-F052-8BD4-1E19-B185BC349DF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B7ED7C1-8E39-73AD-EDFF-1EF6BA8A68E9}"/>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8D5303B-CE62-983B-D465-CD83DF90108F}"/>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3712E9E-EB2A-18FE-4CAA-0AC947AAF94A}"/>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DC8F91D-42ED-FA09-8567-23AD6A7441C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226D63B-52DD-2DEF-4FF4-CF2DD89A7208}"/>
              </a:ext>
            </a:extLst>
          </p:cNvPr>
          <p:cNvSpPr txBox="1"/>
          <p:nvPr/>
        </p:nvSpPr>
        <p:spPr>
          <a:xfrm>
            <a:off x="2306683" y="1332204"/>
            <a:ext cx="1425979" cy="307777"/>
          </a:xfrm>
          <a:prstGeom prst="rect">
            <a:avLst/>
          </a:prstGeom>
          <a:noFill/>
        </p:spPr>
        <p:txBody>
          <a:bodyPr wrap="square" rtlCol="0">
            <a:spAutoFit/>
          </a:bodyPr>
          <a:lstStyle/>
          <a:p>
            <a:r>
              <a:rPr lang="en-US" dirty="0"/>
              <a:t>84% Complete</a:t>
            </a:r>
          </a:p>
        </p:txBody>
      </p:sp>
      <p:sp>
        <p:nvSpPr>
          <p:cNvPr id="11" name="Rectangle: Rounded Corners 10">
            <a:extLst>
              <a:ext uri="{FF2B5EF4-FFF2-40B4-BE49-F238E27FC236}">
                <a16:creationId xmlns:a16="http://schemas.microsoft.com/office/drawing/2014/main" id="{3621AFA7-C0EE-0E98-7F1A-F2D94F62BA81}"/>
              </a:ext>
            </a:extLst>
          </p:cNvPr>
          <p:cNvSpPr/>
          <p:nvPr/>
        </p:nvSpPr>
        <p:spPr>
          <a:xfrm>
            <a:off x="777923" y="3152907"/>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040228BF-A766-0F68-C72D-3D3A3A596E0F}"/>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9" name="Rectangle 8">
            <a:extLst>
              <a:ext uri="{FF2B5EF4-FFF2-40B4-BE49-F238E27FC236}">
                <a16:creationId xmlns:a16="http://schemas.microsoft.com/office/drawing/2014/main" id="{C8E296AC-9047-EA38-233A-0A9CC56859B8}"/>
              </a:ext>
            </a:extLst>
          </p:cNvPr>
          <p:cNvSpPr/>
          <p:nvPr/>
        </p:nvSpPr>
        <p:spPr>
          <a:xfrm>
            <a:off x="6201467" y="440138"/>
            <a:ext cx="4891633" cy="300250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dirty="0"/>
              <a:t>Change to “select preferred pieces of political or non-political media…..”</a:t>
            </a:r>
          </a:p>
        </p:txBody>
      </p:sp>
      <p:sp>
        <p:nvSpPr>
          <p:cNvPr id="12" name="TextBox 11">
            <a:extLst>
              <a:ext uri="{FF2B5EF4-FFF2-40B4-BE49-F238E27FC236}">
                <a16:creationId xmlns:a16="http://schemas.microsoft.com/office/drawing/2014/main" id="{2B12155A-757B-8D7C-DF4C-B0F74E777338}"/>
              </a:ext>
            </a:extLst>
          </p:cNvPr>
          <p:cNvSpPr txBox="1"/>
          <p:nvPr/>
        </p:nvSpPr>
        <p:spPr>
          <a:xfrm>
            <a:off x="6201467" y="3719152"/>
            <a:ext cx="6097136" cy="2246769"/>
          </a:xfrm>
          <a:prstGeom prst="rect">
            <a:avLst/>
          </a:prstGeom>
          <a:noFill/>
        </p:spPr>
        <p:txBody>
          <a:bodyPr wrap="square">
            <a:spAutoFit/>
          </a:bodyPr>
          <a:lstStyle/>
          <a:p>
            <a:pPr algn="l">
              <a:buFont typeface="Arial" panose="020B0604020202020204" pitchFamily="34" charset="0"/>
              <a:buChar char="•"/>
            </a:pPr>
            <a:r>
              <a:rPr lang="en-US" b="0" i="0" dirty="0">
                <a:solidFill>
                  <a:srgbClr val="282828"/>
                </a:solidFill>
                <a:effectLst/>
                <a:latin typeface="OpenAI Sans"/>
              </a:rPr>
              <a:t>CNN</a:t>
            </a:r>
          </a:p>
          <a:p>
            <a:pPr algn="l">
              <a:buFont typeface="Arial" panose="020B0604020202020204" pitchFamily="34" charset="0"/>
              <a:buChar char="•"/>
            </a:pPr>
            <a:r>
              <a:rPr lang="en-US" dirty="0">
                <a:solidFill>
                  <a:srgbClr val="282828"/>
                </a:solidFill>
                <a:latin typeface="OpenAI Sans"/>
              </a:rPr>
              <a:t>Fox News</a:t>
            </a:r>
          </a:p>
          <a:p>
            <a:pPr algn="l">
              <a:buFont typeface="Arial" panose="020B0604020202020204" pitchFamily="34" charset="0"/>
              <a:buChar char="•"/>
            </a:pPr>
            <a:r>
              <a:rPr lang="en-US" b="0" i="0" dirty="0">
                <a:solidFill>
                  <a:srgbClr val="282828"/>
                </a:solidFill>
                <a:effectLst/>
                <a:latin typeface="OpenAI Sans"/>
              </a:rPr>
              <a:t>MSNBC</a:t>
            </a:r>
          </a:p>
          <a:p>
            <a:pPr algn="l">
              <a:buFont typeface="Arial" panose="020B0604020202020204" pitchFamily="34" charset="0"/>
              <a:buChar char="•"/>
            </a:pPr>
            <a:r>
              <a:rPr lang="en-US" dirty="0">
                <a:solidFill>
                  <a:srgbClr val="282828"/>
                </a:solidFill>
                <a:latin typeface="OpenAI Sans"/>
              </a:rPr>
              <a:t>The New York Times</a:t>
            </a:r>
          </a:p>
          <a:p>
            <a:pPr algn="l">
              <a:buFont typeface="Arial" panose="020B0604020202020204" pitchFamily="34" charset="0"/>
              <a:buChar char="•"/>
            </a:pPr>
            <a:r>
              <a:rPr lang="en-US" b="0" i="0" dirty="0">
                <a:solidFill>
                  <a:srgbClr val="282828"/>
                </a:solidFill>
                <a:effectLst/>
                <a:latin typeface="OpenAI Sans"/>
              </a:rPr>
              <a:t>The Washington Post</a:t>
            </a:r>
          </a:p>
          <a:p>
            <a:pPr algn="l">
              <a:buFont typeface="Arial" panose="020B0604020202020204" pitchFamily="34" charset="0"/>
              <a:buChar char="•"/>
            </a:pPr>
            <a:r>
              <a:rPr lang="en-US" dirty="0">
                <a:solidFill>
                  <a:srgbClr val="282828"/>
                </a:solidFill>
                <a:latin typeface="OpenAI Sans"/>
              </a:rPr>
              <a:t>The Wall Street Journal</a:t>
            </a:r>
          </a:p>
          <a:p>
            <a:pPr algn="l">
              <a:buFont typeface="Arial" panose="020B0604020202020204" pitchFamily="34" charset="0"/>
              <a:buChar char="•"/>
            </a:pPr>
            <a:r>
              <a:rPr lang="en-US" b="0" i="0" dirty="0">
                <a:solidFill>
                  <a:srgbClr val="282828"/>
                </a:solidFill>
                <a:effectLst/>
                <a:latin typeface="OpenAI Sans"/>
              </a:rPr>
              <a:t>YouTube</a:t>
            </a:r>
          </a:p>
          <a:p>
            <a:pPr algn="l">
              <a:buFont typeface="Arial" panose="020B0604020202020204" pitchFamily="34" charset="0"/>
              <a:buChar char="•"/>
            </a:pPr>
            <a:r>
              <a:rPr lang="en-US" dirty="0">
                <a:solidFill>
                  <a:srgbClr val="282828"/>
                </a:solidFill>
                <a:latin typeface="OpenAI Sans"/>
              </a:rPr>
              <a:t>X (Twitter)</a:t>
            </a:r>
          </a:p>
          <a:p>
            <a:pPr algn="l">
              <a:buFont typeface="Arial" panose="020B0604020202020204" pitchFamily="34" charset="0"/>
              <a:buChar char="•"/>
            </a:pPr>
            <a:r>
              <a:rPr lang="en-US" b="0" i="0" dirty="0">
                <a:solidFill>
                  <a:srgbClr val="282828"/>
                </a:solidFill>
                <a:effectLst/>
                <a:latin typeface="OpenAI Sans"/>
              </a:rPr>
              <a:t>TikTok</a:t>
            </a:r>
          </a:p>
          <a:p>
            <a:pPr algn="l">
              <a:buFont typeface="Arial" panose="020B0604020202020204" pitchFamily="34" charset="0"/>
              <a:buChar char="•"/>
            </a:pPr>
            <a:r>
              <a:rPr lang="en-US" dirty="0">
                <a:solidFill>
                  <a:srgbClr val="282828"/>
                </a:solidFill>
                <a:latin typeface="OpenAI Sans"/>
              </a:rPr>
              <a:t>Podcasts</a:t>
            </a:r>
            <a:endParaRPr lang="en-US" b="0" i="0" dirty="0">
              <a:solidFill>
                <a:srgbClr val="282828"/>
              </a:solidFill>
              <a:effectLst/>
              <a:latin typeface="OpenAI Sans"/>
            </a:endParaRPr>
          </a:p>
        </p:txBody>
      </p:sp>
    </p:spTree>
    <p:extLst>
      <p:ext uri="{BB962C8B-B14F-4D97-AF65-F5344CB8AC3E}">
        <p14:creationId xmlns:p14="http://schemas.microsoft.com/office/powerpoint/2010/main" val="2519784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00CE194-39AA-5A66-5484-791CF1455B87}"/>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D9B2EC51-FB97-CFEA-67DC-A01EE7A6A47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4" name="Rectangle 3">
            <a:extLst>
              <a:ext uri="{FF2B5EF4-FFF2-40B4-BE49-F238E27FC236}">
                <a16:creationId xmlns:a16="http://schemas.microsoft.com/office/drawing/2014/main" id="{92BD1A3F-EB7D-CADF-5277-0F5DB0810430}"/>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5D6992-EE4F-85C5-C63A-6ADA58EEB06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BBCB244C-DD4A-C71F-98D8-580EFBEBB5A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EE5C120E-F1BE-3549-1DBF-78549AAB51DB}"/>
              </a:ext>
            </a:extLst>
          </p:cNvPr>
          <p:cNvSpPr txBox="1"/>
          <p:nvPr/>
        </p:nvSpPr>
        <p:spPr>
          <a:xfrm>
            <a:off x="649356" y="1905672"/>
            <a:ext cx="4891633" cy="523220"/>
          </a:xfrm>
          <a:prstGeom prst="rect">
            <a:avLst/>
          </a:prstGeom>
          <a:noFill/>
        </p:spPr>
        <p:txBody>
          <a:bodyPr wrap="square" rtlCol="0">
            <a:spAutoFit/>
          </a:bodyPr>
          <a:lstStyle/>
          <a:p>
            <a:r>
              <a:rPr lang="en-US" b="1" dirty="0"/>
              <a:t>18. Name three issues that matter most to you</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7E3CE5ED-8AB0-D64B-F242-72996E2207D7}"/>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4EA35E20-7FF6-8BB9-E982-3565573940F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FD50B481-5BAB-60A9-3469-70CEDC87FB0D}"/>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C5AF968-A7C5-F68F-AB68-6B41FB8E9CCF}"/>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242E4387-DE17-1AB1-90B4-03489651C16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2546D01-A158-A110-CDF4-956D8D7642E7}"/>
              </a:ext>
            </a:extLst>
          </p:cNvPr>
          <p:cNvSpPr txBox="1"/>
          <p:nvPr/>
        </p:nvSpPr>
        <p:spPr>
          <a:xfrm>
            <a:off x="2306684" y="1332204"/>
            <a:ext cx="1524926" cy="307777"/>
          </a:xfrm>
          <a:prstGeom prst="rect">
            <a:avLst/>
          </a:prstGeom>
          <a:noFill/>
        </p:spPr>
        <p:txBody>
          <a:bodyPr wrap="square" rtlCol="0">
            <a:spAutoFit/>
          </a:bodyPr>
          <a:lstStyle/>
          <a:p>
            <a:r>
              <a:rPr lang="en-US" dirty="0"/>
              <a:t>89% Complete</a:t>
            </a:r>
          </a:p>
        </p:txBody>
      </p:sp>
      <p:sp>
        <p:nvSpPr>
          <p:cNvPr id="11" name="Rectangle: Rounded Corners 10">
            <a:extLst>
              <a:ext uri="{FF2B5EF4-FFF2-40B4-BE49-F238E27FC236}">
                <a16:creationId xmlns:a16="http://schemas.microsoft.com/office/drawing/2014/main" id="{BC07FCEE-1011-3B07-AE30-D47A6193EBBD}"/>
              </a:ext>
            </a:extLst>
          </p:cNvPr>
          <p:cNvSpPr/>
          <p:nvPr/>
        </p:nvSpPr>
        <p:spPr>
          <a:xfrm>
            <a:off x="784747" y="2354131"/>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17BC8D07-610A-648E-2F70-1D906717E095}"/>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9" name="Arrow: Right 8">
            <a:extLst>
              <a:ext uri="{FF2B5EF4-FFF2-40B4-BE49-F238E27FC236}">
                <a16:creationId xmlns:a16="http://schemas.microsoft.com/office/drawing/2014/main" id="{F205F868-4A60-3274-50FA-F9F182DBED6B}"/>
              </a:ext>
            </a:extLst>
          </p:cNvPr>
          <p:cNvSpPr/>
          <p:nvPr/>
        </p:nvSpPr>
        <p:spPr>
          <a:xfrm rot="16200000">
            <a:off x="2262833" y="4106302"/>
            <a:ext cx="1179394" cy="3651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710458E-F042-22B4-7894-C2128A6CD846}"/>
              </a:ext>
            </a:extLst>
          </p:cNvPr>
          <p:cNvSpPr txBox="1"/>
          <p:nvPr/>
        </p:nvSpPr>
        <p:spPr>
          <a:xfrm>
            <a:off x="6160259" y="4143532"/>
            <a:ext cx="6097136" cy="1169551"/>
          </a:xfrm>
          <a:prstGeom prst="rect">
            <a:avLst/>
          </a:prstGeom>
          <a:noFill/>
        </p:spPr>
        <p:txBody>
          <a:bodyPr wrap="square">
            <a:spAutoFit/>
          </a:bodyPr>
          <a:lstStyle/>
          <a:p>
            <a:pPr algn="l">
              <a:buFont typeface="Arial" panose="020B0604020202020204" pitchFamily="34" charset="0"/>
              <a:buChar char="•"/>
            </a:pPr>
            <a:r>
              <a:rPr lang="en-US" b="0" i="0" dirty="0">
                <a:solidFill>
                  <a:srgbClr val="282828"/>
                </a:solidFill>
                <a:effectLst/>
                <a:latin typeface="OpenAI Sans"/>
              </a:rPr>
              <a:t>The economy (inflation, jobs, wages)</a:t>
            </a:r>
          </a:p>
          <a:p>
            <a:pPr algn="l">
              <a:buFont typeface="Arial" panose="020B0604020202020204" pitchFamily="34" charset="0"/>
              <a:buChar char="•"/>
            </a:pPr>
            <a:r>
              <a:rPr lang="en-US" b="0" i="0" dirty="0">
                <a:solidFill>
                  <a:srgbClr val="282828"/>
                </a:solidFill>
                <a:effectLst/>
                <a:latin typeface="OpenAI Sans"/>
              </a:rPr>
              <a:t>Healthcare (cost, access, prescription drugs)</a:t>
            </a:r>
          </a:p>
          <a:p>
            <a:pPr algn="l">
              <a:buFont typeface="Arial" panose="020B0604020202020204" pitchFamily="34" charset="0"/>
              <a:buChar char="•"/>
            </a:pPr>
            <a:r>
              <a:rPr lang="en-US" b="0" i="0" dirty="0">
                <a:solidFill>
                  <a:srgbClr val="282828"/>
                </a:solidFill>
                <a:effectLst/>
                <a:latin typeface="OpenAI Sans"/>
              </a:rPr>
              <a:t>Immigration and border policy</a:t>
            </a:r>
          </a:p>
          <a:p>
            <a:pPr algn="l">
              <a:buFont typeface="Arial" panose="020B0604020202020204" pitchFamily="34" charset="0"/>
              <a:buChar char="•"/>
            </a:pPr>
            <a:r>
              <a:rPr lang="en-US" b="0" i="0" dirty="0">
                <a:solidFill>
                  <a:srgbClr val="282828"/>
                </a:solidFill>
                <a:effectLst/>
                <a:latin typeface="OpenAI Sans"/>
              </a:rPr>
              <a:t>Climate change and energy (gas prices, renewables)</a:t>
            </a:r>
          </a:p>
          <a:p>
            <a:pPr algn="l">
              <a:buFont typeface="Arial" panose="020B0604020202020204" pitchFamily="34" charset="0"/>
              <a:buChar char="•"/>
            </a:pPr>
            <a:r>
              <a:rPr lang="en-US" b="0" i="0" dirty="0">
                <a:solidFill>
                  <a:srgbClr val="282828"/>
                </a:solidFill>
                <a:effectLst/>
                <a:latin typeface="OpenAI Sans"/>
              </a:rPr>
              <a:t>Public safety and crime (policing, gun violence)</a:t>
            </a:r>
          </a:p>
        </p:txBody>
      </p:sp>
      <p:sp>
        <p:nvSpPr>
          <p:cNvPr id="17" name="Rectangle 16">
            <a:extLst>
              <a:ext uri="{FF2B5EF4-FFF2-40B4-BE49-F238E27FC236}">
                <a16:creationId xmlns:a16="http://schemas.microsoft.com/office/drawing/2014/main" id="{9B9A2B68-91BE-E8BE-6E7B-942BDE86B40B}"/>
              </a:ext>
            </a:extLst>
          </p:cNvPr>
          <p:cNvSpPr/>
          <p:nvPr/>
        </p:nvSpPr>
        <p:spPr>
          <a:xfrm>
            <a:off x="6160259" y="527080"/>
            <a:ext cx="4891633" cy="300250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dirty="0"/>
              <a:t>Change this to:</a:t>
            </a:r>
          </a:p>
        </p:txBody>
      </p:sp>
    </p:spTree>
    <p:extLst>
      <p:ext uri="{BB962C8B-B14F-4D97-AF65-F5344CB8AC3E}">
        <p14:creationId xmlns:p14="http://schemas.microsoft.com/office/powerpoint/2010/main" val="1673644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3A68EF73-1425-D7D3-5C94-613D371B7DB8}"/>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FD6FC283-5E9E-FFCF-3AFA-F508FC29641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4" name="Rectangle 3">
            <a:extLst>
              <a:ext uri="{FF2B5EF4-FFF2-40B4-BE49-F238E27FC236}">
                <a16:creationId xmlns:a16="http://schemas.microsoft.com/office/drawing/2014/main" id="{A457F667-7463-1826-4CF2-2B3495924FB4}"/>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97DBB9-7B49-2C9A-B5B5-B953AB71427E}"/>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54002C8-1B78-FBCF-D37C-E8D56FB11B4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E5D068A2-DF78-6F9D-1688-718BE56C2339}"/>
              </a:ext>
            </a:extLst>
          </p:cNvPr>
          <p:cNvSpPr txBox="1"/>
          <p:nvPr/>
        </p:nvSpPr>
        <p:spPr>
          <a:xfrm>
            <a:off x="649356" y="1905672"/>
            <a:ext cx="4891633" cy="738664"/>
          </a:xfrm>
          <a:prstGeom prst="rect">
            <a:avLst/>
          </a:prstGeom>
          <a:noFill/>
        </p:spPr>
        <p:txBody>
          <a:bodyPr wrap="square" rtlCol="0">
            <a:spAutoFit/>
          </a:bodyPr>
          <a:lstStyle/>
          <a:p>
            <a:r>
              <a:rPr lang="en-US" b="1" dirty="0"/>
              <a:t>19. Name three issues that are important for your elected officials to advocate for or against</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7C268B5-2CB5-6B55-2261-73227F75041F}"/>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BF5D4978-86F4-640E-FF70-006C475DFECD}"/>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68BD88C-70C2-D8EA-212C-EFFD0815A0A7}"/>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2DE9F83-6DDA-3ADE-13AB-FAF6FA09EE7E}"/>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E1F66DC-7E4F-9CEE-FBEB-B66A7C7F88A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C13D565-858A-E62B-82FA-E78F6A704C48}"/>
              </a:ext>
            </a:extLst>
          </p:cNvPr>
          <p:cNvSpPr txBox="1"/>
          <p:nvPr/>
        </p:nvSpPr>
        <p:spPr>
          <a:xfrm>
            <a:off x="2306684" y="1332204"/>
            <a:ext cx="1524926" cy="307777"/>
          </a:xfrm>
          <a:prstGeom prst="rect">
            <a:avLst/>
          </a:prstGeom>
          <a:noFill/>
        </p:spPr>
        <p:txBody>
          <a:bodyPr wrap="square" rtlCol="0">
            <a:spAutoFit/>
          </a:bodyPr>
          <a:lstStyle/>
          <a:p>
            <a:r>
              <a:rPr lang="en-US" dirty="0"/>
              <a:t>95% Complete</a:t>
            </a:r>
          </a:p>
        </p:txBody>
      </p:sp>
      <p:sp>
        <p:nvSpPr>
          <p:cNvPr id="11" name="Rectangle: Rounded Corners 10">
            <a:extLst>
              <a:ext uri="{FF2B5EF4-FFF2-40B4-BE49-F238E27FC236}">
                <a16:creationId xmlns:a16="http://schemas.microsoft.com/office/drawing/2014/main" id="{5B725AB0-E752-BD93-AD45-7174808B905D}"/>
              </a:ext>
            </a:extLst>
          </p:cNvPr>
          <p:cNvSpPr/>
          <p:nvPr/>
        </p:nvSpPr>
        <p:spPr>
          <a:xfrm>
            <a:off x="784747" y="2587944"/>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FA4EACF5-84DC-A43C-EF13-4556AC7FD42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9" name="Rectangle 8">
            <a:extLst>
              <a:ext uri="{FF2B5EF4-FFF2-40B4-BE49-F238E27FC236}">
                <a16:creationId xmlns:a16="http://schemas.microsoft.com/office/drawing/2014/main" id="{FEBD3732-1E82-D2AC-7C15-86B9EC2480E2}"/>
              </a:ext>
            </a:extLst>
          </p:cNvPr>
          <p:cNvSpPr/>
          <p:nvPr/>
        </p:nvSpPr>
        <p:spPr>
          <a:xfrm>
            <a:off x="6201467" y="440138"/>
            <a:ext cx="4891633" cy="300250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dirty="0"/>
              <a:t>Delete page entirely</a:t>
            </a:r>
          </a:p>
        </p:txBody>
      </p:sp>
    </p:spTree>
    <p:extLst>
      <p:ext uri="{BB962C8B-B14F-4D97-AF65-F5344CB8AC3E}">
        <p14:creationId xmlns:p14="http://schemas.microsoft.com/office/powerpoint/2010/main" val="2370592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8B8BD8A-E432-AA6D-B4A8-2F6A953A63AC}"/>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181002C6-40EE-9E30-56E6-1B4FB42F05E6}"/>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4" name="Rectangle 3">
            <a:extLst>
              <a:ext uri="{FF2B5EF4-FFF2-40B4-BE49-F238E27FC236}">
                <a16:creationId xmlns:a16="http://schemas.microsoft.com/office/drawing/2014/main" id="{3933E50F-463D-7C72-437F-63F227F355F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C60A4F-9D16-026E-9323-635FF4EE05D1}"/>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9" name="TextBox 8">
            <a:extLst>
              <a:ext uri="{FF2B5EF4-FFF2-40B4-BE49-F238E27FC236}">
                <a16:creationId xmlns:a16="http://schemas.microsoft.com/office/drawing/2014/main" id="{9C767D2C-7E9A-E628-E650-1FD1D933B037}"/>
              </a:ext>
            </a:extLst>
          </p:cNvPr>
          <p:cNvSpPr txBox="1"/>
          <p:nvPr/>
        </p:nvSpPr>
        <p:spPr>
          <a:xfrm>
            <a:off x="649357" y="1856044"/>
            <a:ext cx="4891633" cy="707886"/>
          </a:xfrm>
          <a:prstGeom prst="rect">
            <a:avLst/>
          </a:prstGeom>
          <a:noFill/>
        </p:spPr>
        <p:txBody>
          <a:bodyPr wrap="square" rtlCol="0">
            <a:spAutoFit/>
          </a:bodyPr>
          <a:lstStyle/>
          <a:p>
            <a:r>
              <a:rPr lang="en-US" sz="2000" b="1" dirty="0">
                <a:solidFill>
                  <a:srgbClr val="276EF1"/>
                </a:solidFill>
              </a:rPr>
              <a:t>We’ve got your responses – our team is reviewing them now</a:t>
            </a:r>
          </a:p>
        </p:txBody>
      </p:sp>
      <p:sp>
        <p:nvSpPr>
          <p:cNvPr id="10" name="TextBox 9">
            <a:extLst>
              <a:ext uri="{FF2B5EF4-FFF2-40B4-BE49-F238E27FC236}">
                <a16:creationId xmlns:a16="http://schemas.microsoft.com/office/drawing/2014/main" id="{A516FC1A-162D-0A69-67C5-30C621A27DFE}"/>
              </a:ext>
            </a:extLst>
          </p:cNvPr>
          <p:cNvSpPr txBox="1"/>
          <p:nvPr/>
        </p:nvSpPr>
        <p:spPr>
          <a:xfrm>
            <a:off x="649356" y="2624260"/>
            <a:ext cx="4891633" cy="954107"/>
          </a:xfrm>
          <a:prstGeom prst="rect">
            <a:avLst/>
          </a:prstGeom>
          <a:noFill/>
        </p:spPr>
        <p:txBody>
          <a:bodyPr wrap="square" rtlCol="0">
            <a:spAutoFit/>
          </a:bodyPr>
          <a:lstStyle/>
          <a:p>
            <a:r>
              <a:rPr lang="en-US" dirty="0"/>
              <a:t>Thank you for completing the questionnaire. We’ll review your responses soon to confirm eligibility for this focus group. If you’re selected, we’ll contact you via your preferred method with next steps and incentive details.</a:t>
            </a:r>
          </a:p>
        </p:txBody>
      </p:sp>
      <p:sp>
        <p:nvSpPr>
          <p:cNvPr id="2" name="TextBox 1">
            <a:extLst>
              <a:ext uri="{FF2B5EF4-FFF2-40B4-BE49-F238E27FC236}">
                <a16:creationId xmlns:a16="http://schemas.microsoft.com/office/drawing/2014/main" id="{D449C001-14A0-94E7-3A9B-D581CCEEAA12}"/>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9FACD183-E827-1477-95B9-B9BFD2FF32D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E41ECD11-10FB-93F8-4FC8-F70DE4E32165}"/>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F6EC5FA-9494-4CE3-18CF-546E9B5C7E2B}"/>
              </a:ext>
            </a:extLst>
          </p:cNvPr>
          <p:cNvSpPr txBox="1"/>
          <p:nvPr/>
        </p:nvSpPr>
        <p:spPr>
          <a:xfrm>
            <a:off x="680063" y="3681042"/>
            <a:ext cx="4891633" cy="1384995"/>
          </a:xfrm>
          <a:prstGeom prst="rect">
            <a:avLst/>
          </a:prstGeom>
          <a:noFill/>
        </p:spPr>
        <p:txBody>
          <a:bodyPr wrap="square" rtlCol="0">
            <a:spAutoFit/>
          </a:bodyPr>
          <a:lstStyle/>
          <a:p>
            <a:pPr marL="182880" indent="-182880">
              <a:buFont typeface="Arial" panose="020B0604020202020204" pitchFamily="34" charset="0"/>
              <a:buChar char="•"/>
            </a:pPr>
            <a:r>
              <a:rPr lang="en-US" dirty="0"/>
              <a:t>Our review usually takes 1-3 business days</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dirty="0"/>
              <a:t>You’ll be notified through your preferred contact method</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dirty="0"/>
              <a:t>Your information remains confidential and secure</a:t>
            </a:r>
          </a:p>
          <a:p>
            <a:pPr marL="182880" indent="-182880">
              <a:buFont typeface="Arial" panose="020B0604020202020204" pitchFamily="34" charset="0"/>
              <a:buChar char="•"/>
            </a:pPr>
            <a:endParaRPr lang="en-US" dirty="0"/>
          </a:p>
        </p:txBody>
      </p:sp>
      <p:pic>
        <p:nvPicPr>
          <p:cNvPr id="12" name="Picture 2" descr="Progress Bar Icons - Free SVG &amp; PNG ...">
            <a:extLst>
              <a:ext uri="{FF2B5EF4-FFF2-40B4-BE49-F238E27FC236}">
                <a16:creationId xmlns:a16="http://schemas.microsoft.com/office/drawing/2014/main" id="{A7B271CB-11E5-DC67-9932-208E517998F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94E6CF1-462E-F215-CAEF-E8593297C185}"/>
              </a:ext>
            </a:extLst>
          </p:cNvPr>
          <p:cNvSpPr txBox="1"/>
          <p:nvPr/>
        </p:nvSpPr>
        <p:spPr>
          <a:xfrm>
            <a:off x="2306684" y="1332204"/>
            <a:ext cx="1524926" cy="307777"/>
          </a:xfrm>
          <a:prstGeom prst="rect">
            <a:avLst/>
          </a:prstGeom>
          <a:noFill/>
        </p:spPr>
        <p:txBody>
          <a:bodyPr wrap="square" rtlCol="0">
            <a:spAutoFit/>
          </a:bodyPr>
          <a:lstStyle/>
          <a:p>
            <a:r>
              <a:rPr lang="en-US" dirty="0"/>
              <a:t>100% Complete</a:t>
            </a:r>
          </a:p>
        </p:txBody>
      </p:sp>
      <p:sp>
        <p:nvSpPr>
          <p:cNvPr id="3" name="Google Shape;99;p14">
            <a:extLst>
              <a:ext uri="{FF2B5EF4-FFF2-40B4-BE49-F238E27FC236}">
                <a16:creationId xmlns:a16="http://schemas.microsoft.com/office/drawing/2014/main" id="{AAC873A4-E099-ABEB-5E8C-2D2A31BCAFD4}"/>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411518869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2251</TotalTime>
  <Words>3319</Words>
  <Application>Microsoft Office PowerPoint</Application>
  <PresentationFormat>Widescreen</PresentationFormat>
  <Paragraphs>313</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OpenAI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Thoben</dc:creator>
  <cp:lastModifiedBy>Jeff</cp:lastModifiedBy>
  <cp:revision>338</cp:revision>
  <dcterms:modified xsi:type="dcterms:W3CDTF">2026-02-16T21:48:22Z</dcterms:modified>
</cp:coreProperties>
</file>